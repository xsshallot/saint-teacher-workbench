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tableStyles" Target="tableStyles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6" Type="http://schemas.openxmlformats.org/officeDocument/2006/relationships/viewProps" Target="viewProps.xml" /><Relationship Id="rId13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7.jp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Relationship Id="rId5" Type="http://schemas.openxmlformats.org/officeDocument/2006/relationships/image" Target="media/image9.jpg" /><Relationship Id="rId2" Type="http://schemas.openxmlformats.org/officeDocument/2006/relationships/image" Target="media/image6.jpg" /><Relationship Id="rId4" Type="http://schemas.openxmlformats.org/officeDocument/2006/relationships/image" Target="media/image8.jpg" /><Relationship Id="rId6" Type="http://schemas.openxmlformats.org/officeDocument/2006/relationships/image" Target="media/image10.jpg" /><Relationship Id="rId7" Type="http://schemas.openxmlformats.org/officeDocument/2006/relationships/image" Target="media/image11.jpg" /><Relationship Id="rId8" Type="http://schemas.openxmlformats.org/officeDocument/2006/relationships/image" Target="media/image12.jp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0B1220', position: 'relative', padding: 0, overflow: 'hidden' }}&gt;&#10;  &lt;Box style={{ position: 'absolute', top: -180, right: -160, width: 560, height: 560, borderRadius: 9999, background: 'radial-gradient(circle, rgba(91,132,250,0.22) 0%, rgba(91,132,250,0) 70%)' }} /&gt;&#10;  &lt;Box style={{ position: 'absolute', bottom: -220, left: -140, width: 620, height: 620, borderRadius: 9999, background: 'radial-gradient(circle, rgba(34,211,238,0.14) 0%, rgba(34,211,238,0) 70%)' }} /&gt;&#10;&#10;  &lt;Box style={{ position: 'absolute', top: 56, left: 72, flexDirection: 'row', alignItems: 'center', gap: 22 }}&gt;&#10;    &lt;Image src=&quot;assets/logo.jpg&quot; style={{ width: 88, height: 88, borderRadius: 16, border: '2px solid #1E3A5F' }} /&gt;&#10;    &lt;Text style={{ fontSize: 19, color: '#94A3B8', letterSpacing: 6 }}&gt;SAINT · WORKBUDDY ECOSYSTEM&lt;/Text&gt;&#10;  &lt;/Box&gt;&#10;&#10;  &lt;Box style={{ position: 'absolute', top: 218, left: 72, width: 1150 }}&gt;&#10;    &lt;Text style={{ fontSize: 64, fontWeight: 'bold', color: '#F8FAFC', lineHeight: 1.15 }}&gt;&#10;      SAINT 超级教师工作台&#10;    &lt;/Text&gt;&#10;    &lt;Text style={{ fontSize: 58, fontWeight: 'bold', marginTop: 12, backgroundImage: 'linear-gradient(135deg, #5B84FA 0%, #22D3EE 100%)', backgroundClip: 'text', color: 'transparent' }}&gt;&#10;      一个教师 + WorkBuddy = 一支 AI 教学团队&#10;    &lt;/Text&gt;&#10;  &lt;/Box&gt;&#10;&#10;  &lt;Box style={{ position: 'absolute', top: 442, left: 72, width: 1136, flexDirection: 'row', gap: 14 }}&gt;&#10;    {['连接器 · 数据自动汇入', '自动化 · 每日定时同步', '专家团 · 现场搭建', '人工判断 · 教师决策'].map((t) =&gt; (&#10;      &lt;Box key={t} style={{ flex: 1, padding: '11px 0', borderRadius: 9999, border: '1px solid #1E3A5F', background: 'rgba(16,26,46,0.9)', alignItems: 'center' }}&gt;&#10;        &lt;Text style={{ fontSize: 16, color: '#7DD3FC' }}&gt;{t}&lt;/Text&gt;&#10;      &lt;/Box&gt;&#10;    ))}&#10;  &lt;/Box&gt;&#10;&#10;  &lt;Box style={{ position: 'absolute', top: 532, left: 72, width: 1136, flexDirection: 'row', gap: 16 }}&gt;&#10;    {[&#10;      { n: '46', l: '真实学员', c: '#F8FAFC' },&#10;      { n: '22', l: '课堂会议', c: '#F8FAFC' },&#10;      { n: '4.5', l: '平均满意度', c: '#FBBF24' },&#10;      { n: '100', l: 'NPS', c: '#22D3EE' },&#10;    ].map((s) =&gt; (&#10;      &lt;Box key={s.l} style={{ flex: 1, padding: '18px 24px', borderRadius: 14, background: 'rgba(16,26,46,0.95)', border: '1px solid #1E3A5F', flexDirection: 'row', alignItems: 'center', gap: 16 }}&gt;&#10;        &lt;Text style={{ fontSize: 44, fontWeight: 'bold', color: s.c, fontFamily: 'JetBrains Mono, Consolas' }}&gt;{s.n}&lt;/Text&gt;&#10;        &lt;Text style={{ fontSize: 15, color: '#94A3B8' }}&gt;{s.l}&lt;/Text&gt;&#10;      &lt;/Box&gt;&#10;    ))}&#10;  &lt;/Box&gt;&#10;&#10;  &lt;Box style={{ position: 'absolute', bottom: 36, left: 72, flexDirection: 'row', alignItems: 'center', gap: 14 }}&gt;&#10;    &lt;Box style={{ width: 8, height: 8, borderRadius: 9999, background: '#FBBF24' }} /&gt;&#10;    &lt;Text style={{ fontSize: 15, color: '#64748B' }}&gt;AI 前沿营 · 小龙虾训练营 讲师 · 数据区间 2026.06 - 10 · 全程 WorkBuddy 驱动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714500"/>
            <a:ext cx="5334000" cy="5334000"/>
          </a:xfrm>
          <a:custGeom>
            <a:pathLst>
              <a:path w="560" h="560">
                <a:moveTo>
                  <a:pt x="400" y="533"/>
                </a:move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8" y="180"/>
                </a:lnTo>
                <a:lnTo>
                  <a:pt x="400" y="180"/>
                </a:lnTo>
                <a:close/>
              </a:path>
            </a:pathLst>
          </a:custGeom>
          <a:gradFill>
            <a:gsLst>
              <a:gs pos="0">
                <a:srgbClr val="5B84FA">
                  <a:alpha val="22000"/>
                </a:srgbClr>
              </a:gs>
              <a:gs pos="70000">
                <a:srgbClr val="5B84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333500" y="304800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08" y="395"/>
                </a:lnTo>
                <a:lnTo>
                  <a:pt x="607" y="400"/>
                </a:lnTo>
                <a:lnTo>
                  <a:pt x="140" y="400"/>
                </a:lnTo>
                <a:lnTo>
                  <a:pt x="140" y="51"/>
                </a:lnTo>
                <a:lnTo>
                  <a:pt x="143" y="49"/>
                </a:lnTo>
                <a:lnTo>
                  <a:pt x="149" y="45"/>
                </a:lnTo>
                <a:lnTo>
                  <a:pt x="156" y="41"/>
                </a:lnTo>
                <a:lnTo>
                  <a:pt x="162" y="37"/>
                </a:lnTo>
                <a:lnTo>
                  <a:pt x="169" y="34"/>
                </a:lnTo>
                <a:lnTo>
                  <a:pt x="176" y="31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4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85800" y="533400"/>
            <a:ext cx="838200" cy="838200"/>
          </a:xfrm>
          <a:prstGeom prst="rect">
            <a:avLst/>
          </a:prstGeom>
          <a:ln w="25400">
            <a:solidFill>
              <a:srgbClr val="1E3A5F"/>
            </a:solidFill>
            <a:prstDash val="solid"/>
          </a:ln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85800" y="533400"/>
            <a:ext cx="838200" cy="838200"/>
          </a:xfrm>
          <a:prstGeom prst="roundRect">
            <a:avLst>
              <a:gd name="adj" fmla="val 18182"/>
            </a:avLst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733550" y="847725"/>
            <a:ext cx="4552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450">
                <a:solidFill>
                  <a:srgbClr val="94A3B8"/>
                </a:solidFill>
                <a:latin typeface="Microsoft YaHei"/>
                <a:ea typeface="Microsoft YaHei"/>
              </a:rPr>
              <a:t>SAINT · WORKBUDDY ECOSYSTEM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2076450"/>
            <a:ext cx="1095375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SAINT </a:t>
            </a:r>
            <a:r>
              <a:rPr lang="zh-CN" sz="4800" b="1">
                <a:solidFill>
                  <a:srgbClr val="F8FAFC"/>
                </a:solidFill>
                <a:latin typeface="Microsoft YaHei"/>
                <a:ea typeface="Microsoft YaHei"/>
              </a:rPr>
              <a:t>超级教师工作台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038475"/>
            <a:ext cx="109537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43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一个教师</a:t>
            </a:r>
            <a:r>
              <a:rPr lang="en-US" sz="43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 xml:space="preserve"> + WorkBuddy = </a:t>
            </a:r>
            <a:r>
              <a:rPr lang="zh-CN" sz="43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一支</a:t>
            </a:r>
            <a:r>
              <a:rPr lang="en-US" sz="43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 xml:space="preserve"> AI </a:t>
            </a:r>
            <a:r>
              <a:rPr lang="zh-CN" sz="43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教学团队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4210050"/>
            <a:ext cx="2609850" cy="400050"/>
          </a:xfrm>
          <a:prstGeom prst="roundRect">
            <a:avLst>
              <a:gd name="adj" fmla="val 2380714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38250" y="4314825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连接器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数据自动汇入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429000" y="4210050"/>
            <a:ext cx="2600325" cy="400050"/>
          </a:xfrm>
          <a:prstGeom prst="roundRect">
            <a:avLst>
              <a:gd name="adj" fmla="val 2380714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981450" y="4314825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自动化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每日定时同步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162675" y="4210050"/>
            <a:ext cx="2609850" cy="400050"/>
          </a:xfrm>
          <a:prstGeom prst="roundRect">
            <a:avLst>
              <a:gd name="adj" fmla="val 2380714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67525" y="4314825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专家团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现场搭建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8905875" y="4210050"/>
            <a:ext cx="2600325" cy="400050"/>
          </a:xfrm>
          <a:prstGeom prst="roundRect">
            <a:avLst>
              <a:gd name="adj" fmla="val 2380714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534525" y="4314825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人工判断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教师决策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5800" y="5067300"/>
            <a:ext cx="2590800" cy="847725"/>
          </a:xfrm>
          <a:prstGeom prst="roundRect">
            <a:avLst>
              <a:gd name="adj" fmla="val 15730"/>
            </a:avLst>
          </a:prstGeom>
          <a:solidFill>
            <a:srgbClr val="101A2E">
              <a:alpha val="9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4400" y="523875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8FAFC"/>
                </a:solidFill>
                <a:latin typeface="JetBrains Mono"/>
                <a:ea typeface="JetBrains Mono"/>
              </a:rPr>
              <a:t>46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533525" y="5410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真实学员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429000" y="5067300"/>
            <a:ext cx="2590800" cy="847725"/>
          </a:xfrm>
          <a:prstGeom prst="roundRect">
            <a:avLst>
              <a:gd name="adj" fmla="val 15730"/>
            </a:avLst>
          </a:prstGeom>
          <a:solidFill>
            <a:srgbClr val="101A2E">
              <a:alpha val="9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657600" y="523875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8FAFC"/>
                </a:solidFill>
                <a:latin typeface="JetBrains Mono"/>
                <a:ea typeface="JetBrains Mono"/>
              </a:rPr>
              <a:t>22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276725" y="5410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课堂会议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172200" y="5067300"/>
            <a:ext cx="2590800" cy="847725"/>
          </a:xfrm>
          <a:prstGeom prst="roundRect">
            <a:avLst>
              <a:gd name="adj" fmla="val 15730"/>
            </a:avLst>
          </a:prstGeom>
          <a:solidFill>
            <a:srgbClr val="101A2E">
              <a:alpha val="9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00800" y="5238750"/>
            <a:ext cx="695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BBF24"/>
                </a:solidFill>
                <a:latin typeface="JetBrains Mono"/>
                <a:ea typeface="JetBrains Mono"/>
              </a:rPr>
              <a:t>4.5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248525" y="54102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平均满意度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915400" y="5067300"/>
            <a:ext cx="2590800" cy="847725"/>
          </a:xfrm>
          <a:prstGeom prst="roundRect">
            <a:avLst>
              <a:gd name="adj" fmla="val 15730"/>
            </a:avLst>
          </a:prstGeom>
          <a:solidFill>
            <a:srgbClr val="101A2E">
              <a:alpha val="95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144000" y="5238750"/>
            <a:ext cx="695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100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991725" y="5410200"/>
            <a:ext cx="295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NPS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85800" y="6391275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95350" y="6343650"/>
            <a:ext cx="508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前沿营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小龙虾训练营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讲师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数据区间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2026.06 - 10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驱动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width: 1280, height: 720, background: '#0B1220', flexDirection: 'column', padding: '28px 60px 0' }}&gt;&#10;  &lt;Text style={{ fontSize: 34, fontWeight: 'bold', color: '#F8FAFC' }}&gt;真实困境：46 名学员，5 个平台，0 个全景&lt;/Text&gt;&#10;  &lt;Text style={{ fontSize: 15, color: '#64748B', marginTop: 6 }}&gt;AI 前沿营 · 小龙虾训练营 · 2026.06 - 10 · 全部数据来自真实教学业务&lt;/Text&gt;&#10;&#10;  &lt;Box style={{ flexDirection: 'row', gap: 20, marginTop: 40 }}&gt;&#10;    {[&#10;      { n: '46', u: '名学员', t: '4 个月训练营', d: '每个人的学习痕迹散落在 5 个地方：作业问卷、学习清单、课堂发言、群聊愿望，还有我自己的记忆里', c: '#F8FAFC' },&#10;      { n: '5', u: '个数据平台', t: '问卷 · 文档 · 会议 · 群 · 记忆', d: '数据每天在产生，也每天在失联——没有一条链路能把它们串起来', c: '#22D3EE' },&#10;      { n: '0', u: '个全景视图', t: '谁在掉队 · 想学什么 · 满意与否', d: '等我发现时，学员已经悄悄掉队——这是最让我难受的事', c: '#FBBF24' },&#10;    ].map((s) =&gt; (&#10;      &lt;Box key={s.u} style={{ flex: 1, background: 'rgba(16,26,46,0.9)', border: '1px solid #1E3A5F', borderRadius: 16, padding: '36px 32px' }}&gt;&#10;        &lt;Box style={{ flexDirection: 'row', alignItems: 'flex-end', gap: 10 }}&gt;&#10;          &lt;Text style={{ fontSize: 112, fontWeight: 'bold', lineHeight: 1, color: s.c, fontFamily: 'JetBrains Mono, Consolas' }}&gt;{s.n}&lt;/Text&gt;&#10;          &lt;Text style={{ fontSize: 22, color: '#94A3B8', paddingBottom: 14 }}&gt;{s.u}&lt;/Text&gt;&#10;        &lt;/Box&gt;&#10;        &lt;Text style={{ fontSize: 17, color: '#CBD5E1', marginTop: 24, fontWeight: 'bold' }}&gt;{s.t}&lt;/Text&gt;&#10;        &lt;Text style={{ fontSize: 15, color: '#64748B', marginTop: 12, lineHeight: 1.6 }}&gt;{s.d}&lt;/Text&gt;&#10;      &lt;/Box&gt;&#10;    ))}&#10;  &lt;/Box&gt;&#10;&#10;  &lt;Box style={{ marginTop: 34, flexDirection: 'row', gap: 14 }}&gt;&#10;    {[&#10;      '跟不过来 —— 发现掉队平均晚一周',&#10;      '备课靠猜 —— 学员想学什么全凭印象',&#10;      '满意度失明 —— 要到结营才从流失率倒推',&#10;    ].map((t) =&gt; (&#10;      &lt;Box key={t} style={{ flex: 1, padding: '16px 18px', borderRadius: 10, background: 'rgba(251,191,36,0.08)', border: '1px solid rgba(251,191,36,0.35)' }}&gt;&#10;        &lt;Text style={{ fontSize: 16, color: '#FBBF24', fontWeight: 'bold' }}&gt;{t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真实困境：</a:t>
            </a:r>
            <a:r>
              <a:rPr lang="en-US" sz="25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46 </a:t>
            </a: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名学员，</a:t>
            </a:r>
            <a:r>
              <a:rPr lang="en-US" sz="25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个平台，</a:t>
            </a:r>
            <a:r>
              <a:rPr lang="en-US" sz="25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个全景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7143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前沿营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小龙虾训练营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2026.06 - 10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全部数据来自真实教学业务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1500" y="1266825"/>
            <a:ext cx="3552825" cy="3343275"/>
          </a:xfrm>
          <a:prstGeom prst="roundRect">
            <a:avLst>
              <a:gd name="adj" fmla="val 455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76300" y="1609725"/>
            <a:ext cx="11811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F8FAFC"/>
                </a:solidFill>
                <a:latin typeface="JetBrains Mono"/>
                <a:ea typeface="JetBrains Mono"/>
              </a:rPr>
              <a:t>46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152650" y="2505075"/>
            <a:ext cx="628650" cy="390525"/>
          </a:xfrm>
          <a:prstGeom prst="rect"/>
        </p:spPr>
        <p:txBody>
          <a:bodyPr wrap="none" lIns="0" tIns="0" rIns="0" bIns="100013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名学员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76300" y="312420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个月训练营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76300" y="3438525"/>
            <a:ext cx="29432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每个人的学习痕迹散落在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个地方：作业问卷、学习清单、课堂发言、群聊愿望，还有我自己的记忆里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314825" y="1266825"/>
            <a:ext cx="3562350" cy="3343275"/>
          </a:xfrm>
          <a:prstGeom prst="roundRect">
            <a:avLst>
              <a:gd name="adj" fmla="val 455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619625" y="1609725"/>
            <a:ext cx="59055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22D3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305425" y="2505075"/>
            <a:ext cx="1047750" cy="390525"/>
          </a:xfrm>
          <a:prstGeom prst="rect"/>
        </p:spPr>
        <p:txBody>
          <a:bodyPr wrap="none" lIns="0" tIns="0" rIns="0" bIns="100013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个数据平台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619625" y="31242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问卷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文档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会议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群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619625" y="3438525"/>
            <a:ext cx="2952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数据每天在产生，也每天在失联——没有一条链路能把它们串起来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067675" y="1266825"/>
            <a:ext cx="3552825" cy="3343275"/>
          </a:xfrm>
          <a:prstGeom prst="roundRect">
            <a:avLst>
              <a:gd name="adj" fmla="val 455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72475" y="1609725"/>
            <a:ext cx="59055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FBBF24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058275" y="2505075"/>
            <a:ext cx="1047750" cy="390525"/>
          </a:xfrm>
          <a:prstGeom prst="rect"/>
        </p:spPr>
        <p:txBody>
          <a:bodyPr wrap="none" lIns="0" tIns="0" rIns="0" bIns="100013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个全景视图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372475" y="3124200"/>
            <a:ext cx="2943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谁在掉队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想学什么</a:t>
            </a:r>
            <a:r>
              <a:rPr lang="en-US" sz="1275" b="1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CBD5E1"/>
                </a:solidFill>
                <a:latin typeface="Microsoft YaHei"/>
                <a:ea typeface="Microsoft YaHei"/>
              </a:rPr>
              <a:t>满意与否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72475" y="3438525"/>
            <a:ext cx="2943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等我发现时，学员已经悄悄掉队——这是最让我难受的事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4933950"/>
            <a:ext cx="3590925" cy="495300"/>
          </a:xfrm>
          <a:prstGeom prst="roundRect">
            <a:avLst>
              <a:gd name="adj" fmla="val 19231"/>
            </a:avLst>
          </a:prstGeom>
          <a:solidFill>
            <a:srgbClr val="FBBF24">
              <a:alpha val="8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2950" y="508635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跟不过来</a:t>
            </a: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发现掉队平均晚一周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295775" y="4933950"/>
            <a:ext cx="3600450" cy="495300"/>
          </a:xfrm>
          <a:prstGeom prst="roundRect">
            <a:avLst>
              <a:gd name="adj" fmla="val 19231"/>
            </a:avLst>
          </a:prstGeom>
          <a:solidFill>
            <a:srgbClr val="FBBF24">
              <a:alpha val="8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67225" y="508635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备课靠猜</a:t>
            </a: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学员想学什么全凭印象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29575" y="4933950"/>
            <a:ext cx="3590925" cy="495300"/>
          </a:xfrm>
          <a:prstGeom prst="roundRect">
            <a:avLst>
              <a:gd name="adj" fmla="val 19231"/>
            </a:avLst>
          </a:prstGeom>
          <a:solidFill>
            <a:srgbClr val="FBBF24">
              <a:alpha val="8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01025" y="508635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满意度失明</a:t>
            </a: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要到结营才从流失率倒推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8" name="" descr="&lt;Slide style={{ width: 1280, height: 720, background: '#0B1220', position: 'relative', padding: 0, overflow: 'hidden' }}&gt;&#10;  &lt;Box style={{ position: 'absolute', top: 120, left: 0, width: 1280, height: 480, background: 'radial-gradient(ellipse at center, rgba(91,132,250,0.14) 0%, rgba(11,18,32,0) 65%)' }} /&gt;&#10;  &lt;Box style={{ position: 'absolute', top: 150, left: 0, width: 1280, alignItems: 'center' }}&gt;&#10;    &lt;Box style={{ padding: '8px 26px', borderRadius: 9999, border: '1px solid #1E3A5F', background: 'rgba(16,26,46,0.9)', marginBottom: 30 }}&gt;&#10;      &lt;Text style={{ fontSize: 17, color: '#7DD3FC', letterSpacing: 6 }}&gt;我的诉求&lt;/Text&gt;&#10;    &lt;/Box&gt;&#10;    &lt;Text style={{ fontSize: 54, fontWeight: 'bold', color: '#F8FAFC', textAlign: 'center', lineHeight: 1.35 }}&gt;&#10;      让 AI 替我盯着每个学员&#10;      &lt;br /&gt;&#10;      我只管&lt;span style={{ color: '#FBBF24' }}&gt;判断&lt;/span&gt;和&lt;span style={{ color: '#22D3EE' }}&gt;讲课&lt;/span&gt;&#10;    &lt;/Text&gt;&#10;  &lt;/Box&gt;&#10;&#10;  &lt;Box style={{ position: 'absolute', top: 470, left: 100, width: 1080, flexDirection: 'row', gap: 24 }}&gt;&#10;    {[&#10;      { k: '跟得上', v: '学员动态数据化', d: '每日同步 · 360° 画像 · 风险预警' },&#10;      { k: '备得准', v: '课程内容有依据', d: '愿望聚类 · 纪要检索 · 覆盖率' },&#10;      { k: '管得好', v: '教学过程有团队', d: '助教分工协作 · 教师只做决策' },&#10;    ].map((g) =&gt; (&#10;      &lt;Box key={g.k} style={{ flex: 1, background: 'rgba(16,26,46,0.9)', border: '1px solid #1E3A5F', borderRadius: 14, padding: '30px 32px' }}&gt;&#10;        &lt;Text style={{ fontSize: 28, fontWeight: 'bold', color: '#5B84FA' }}&gt;{g.k}&lt;/Text&gt;&#10;        &lt;Text style={{ fontSize: 18, color: '#F8FAFC', marginTop: 12, fontWeight: 'bold' }}&gt;{g.v}&lt;/Text&gt;&#10;        &lt;Text style={{ fontSize: 14.5, color: '#64748B', marginTop: 10 }}&gt;{g.d}&lt;/Text&gt;&#10;      &lt;/Box&gt;&#10;    ))}&#10;  &lt;/Box&gt;&#10;  &lt;Text style={{ position: 'absolute', bottom: 30, left: 60, fontSize: 15, color: '#475569' }}&gt;一个人做不到，但一个团队可以 —— 所以我选 WorkBuddy，不是用它当工具，而是用它组建团队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0" y="1143000"/>
            <a:ext cx="12192000" cy="4572000"/>
          </a:xfrm>
          <a:prstGeom prst="rect">
            <a:avLst/>
          </a:prstGeom>
          <a:gradFill>
            <a:gsLst>
              <a:gs pos="0">
                <a:srgbClr val="5B84FA">
                  <a:alpha val="14000"/>
                </a:srgbClr>
              </a:gs>
              <a:gs pos="65000">
                <a:srgbClr val="0B1220">
                  <a:alpha val="0"/>
                </a:srgbClr>
              </a:gs>
            </a:gsLst>
            <a:path path="rect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5410200" y="1428750"/>
            <a:ext cx="1371600" cy="352425"/>
          </a:xfrm>
          <a:prstGeom prst="roundRect">
            <a:avLst>
              <a:gd name="adj" fmla="val 2702432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657850" y="15049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450">
                <a:solidFill>
                  <a:srgbClr val="7DD3FC"/>
                </a:solidFill>
                <a:latin typeface="Microsoft YaHei"/>
                <a:ea typeface="Microsoft YaHei"/>
              </a:rPr>
              <a:t>我的诉求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352800" y="2066925"/>
            <a:ext cx="5495925" cy="166687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050" b="1">
                <a:solidFill>
                  <a:srgbClr val="F8FAFC"/>
                </a:solidFill>
                <a:latin typeface="Microsoft YaHei"/>
                <a:ea typeface="Microsoft YaHei"/>
              </a:rPr>
              <a:t>让</a:t>
            </a:r>
            <a:r>
              <a:rPr lang="en-US" sz="40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4050" b="1">
                <a:solidFill>
                  <a:srgbClr val="F8FAFC"/>
                </a:solidFill>
                <a:latin typeface="Microsoft YaHei"/>
                <a:ea typeface="Microsoft YaHei"/>
              </a:rPr>
              <a:t>替我盯着每个学员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050" b="1">
                <a:solidFill>
                  <a:srgbClr val="F8FAFC"/>
                </a:solidFill>
                <a:latin typeface="Microsoft YaHei"/>
                <a:ea typeface="Microsoft YaHei"/>
              </a:rPr>
              <a:t>我只管</a:t>
            </a:r>
            <a:r>
              <a:rPr lang="zh-CN" sz="4050" b="1">
                <a:solidFill>
                  <a:srgbClr val="FBBF24"/>
                </a:solidFill>
                <a:latin typeface="Microsoft YaHei"/>
                <a:ea typeface="Microsoft YaHei"/>
              </a:rPr>
              <a:t>判断</a:t>
            </a:r>
            <a:r>
              <a:rPr lang="zh-CN" sz="4050" b="1">
                <a:solidFill>
                  <a:srgbClr val="F8FAFC"/>
                </a:solidFill>
                <a:latin typeface="Microsoft YaHei"/>
                <a:ea typeface="Microsoft YaHei"/>
              </a:rPr>
              <a:t>和</a:t>
            </a:r>
            <a:r>
              <a:rPr lang="zh-CN" sz="4050" b="1">
                <a:solidFill>
                  <a:srgbClr val="22D3EE"/>
                </a:solidFill>
                <a:latin typeface="Microsoft YaHei"/>
                <a:ea typeface="Microsoft YaHei"/>
              </a:rPr>
              <a:t>讲课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52500" y="4476750"/>
            <a:ext cx="3276600" cy="1485900"/>
          </a:xfrm>
          <a:prstGeom prst="roundRect">
            <a:avLst>
              <a:gd name="adj" fmla="val 897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257300" y="4762500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5B84FA"/>
                </a:solidFill>
                <a:latin typeface="Microsoft YaHei"/>
                <a:ea typeface="Microsoft YaHei"/>
              </a:rPr>
              <a:t>跟得上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257300" y="5200650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学员动态数据化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257300" y="55054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每日同步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360°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画像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风险预警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457700" y="4476750"/>
            <a:ext cx="3276600" cy="1485900"/>
          </a:xfrm>
          <a:prstGeom prst="roundRect">
            <a:avLst>
              <a:gd name="adj" fmla="val 897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762500" y="4762500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5B84FA"/>
                </a:solidFill>
                <a:latin typeface="Microsoft YaHei"/>
                <a:ea typeface="Microsoft YaHei"/>
              </a:rPr>
              <a:t>备得准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762500" y="5200650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课程内容有依据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762500" y="55054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愿望聚类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纪要检索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覆盖率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7962900" y="4476750"/>
            <a:ext cx="3276600" cy="1485900"/>
          </a:xfrm>
          <a:prstGeom prst="roundRect">
            <a:avLst>
              <a:gd name="adj" fmla="val 897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267700" y="4762500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5B84FA"/>
                </a:solidFill>
                <a:latin typeface="Microsoft YaHei"/>
                <a:ea typeface="Microsoft YaHei"/>
              </a:rPr>
              <a:t>管得好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67700" y="5200650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教学过程有团队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67700" y="55054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助教分工协作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教师只做决策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623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一个人做不到，但一个团队可以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所以我选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，不是用它当工具，而是用它组建团队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47" name="" descr="&lt;Slide style={{ width: 1280, height: 720, background: '#0B1220', flexDirection: 'column', padding: '24px 40px 0' }}&gt;&#10;  &lt;Box style={{ flexDirection: 'row', alignItems: 'flex-end', justifyContent: 'space-between' }}&gt;&#10;    &lt;Text style={{ fontSize: 34, fontWeight: 'bold', color: '#F8FAFC' }}&gt;WorkBuddy 工作流全景&lt;/Text&gt;&#10;    &lt;Text style={{ fontSize: 15, color: '#7DD3FC' }}&gt;五层结构 · 全部长在 WorkBuddy 上 · 人工判断贯穿&lt;/Text&gt;&#10;  &lt;/Box&gt;&#10;  &lt;Image src=&quot;assets/workflow.jpg&quot; style={{ width: 1200, height: 620, marginTop: 12, borderRadius: 14, border: '1px solid #1E3A5F', objectFit: 'cover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648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工作流全景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543925" y="447675"/>
            <a:ext cx="3267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五层结构</a:t>
            </a: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全部长在</a:t>
            </a: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上</a:t>
            </a: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人工判断贯穿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1000" y="733425"/>
            <a:ext cx="11430000" cy="5905500"/>
          </a:xfrm>
          <a:prstGeom prst="rect">
            <a:avLst/>
          </a:prstGeom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 r:embed="rId1"/>
          <a:srcRect l="0" t="4074" r="0" b="4074"/>
          <a:stretch>
            <a:fillRect/>
          </a:stretch>
        </p:blipFill>
        <p:spPr>
          <a:xfrm rot="0" flipH="0" flipV="0">
            <a:off x="381000" y="733425"/>
            <a:ext cx="11430000" cy="5905500"/>
          </a:xfrm>
          <a:prstGeom prst="roundRect">
            <a:avLst>
              <a:gd name="adj" fmla="val 2258"/>
            </a:avLst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background: '#0B1220', flexDirection: 'column', padding: '28px 60px 0' }}&gt;&#13;&#10;  &lt;Text style={{ fontSize: 34, fontWeight: 'bold', color: '#F8FAFC' }}&gt;连接器 + 自动化：数据自己走进来&lt;/Text&gt;&#13;&#10;  &lt;Text style={{ fontSize: 15, color: '#64748B', marginTop: 6 }}&gt;WorkBuddy 连接器零代码授权 · 每日定时同步 · 全程日志留痕&lt;/Text&gt;&#13;&#10;&#13;&#10;  &lt;Box style={{ flexDirection: 'row', gap: 24, marginTop: 30 }}&gt;&#13;&#10;    &lt;Box style={{ width: 660 }}&gt;&#13;&#10;      {[&#13;&#10;        { n: '腾讯问卷', d: '学员每周反馈 · 2 份实时答卷回流', tag: 'tencent-survey' },&#13;&#10;        { n: '腾讯文档', d: '11 份文档资料 · 清单/表格/收集表', tag: 'tencent-docs' },&#13;&#10;        { n: '腾讯会议', d: '22 场课 · 8 份智能纪要 · 发言人即出勤', tag: 'tmeet' },&#13;&#10;      ].map((c) =&gt; (&#13;&#10;        &lt;Box key={c.n} style={{ flexDirection: 'row', alignItems: 'center', background: 'rgba(16,26,46,0.9)', border: '1px solid #1E3A5F', borderRadius: 12, padding: '26px 24px', marginBottom: 18 }}&gt;&#13;&#10;          &lt;Box style={{ width: 8, height: 44, borderRadius: 4, background: '#5B84FA', marginRight: 18 }} /&gt;&#13;&#10;          &lt;Box style={{ flex: 1 }}&gt;&#13;&#10;            &lt;Text style={{ fontSize: 20, fontWeight: 'bold', color: '#F8FAFC' }}&gt;{c.n}&lt;/Text&gt;&#13;&#10;            &lt;Text style={{ fontSize: 14, color: '#94A3B8', marginTop: 5 }}&gt;{c.d}&lt;/Text&gt;&#13;&#10;          &lt;/Box&gt;&#13;&#10;          &lt;Text style={{ fontSize: 13, color: '#22D3EE', fontFamily: 'JetBrains Mono, Consolas' }}&gt;{c.tag}&lt;/Text&gt;&#13;&#10;        &lt;/Box&gt;&#13;&#10;      ))}&#13;&#10;      &lt;Box style={{ marginTop: 16, padding: '20px 22px', borderRadius: 10, background: 'rgba(34,211,238,0.06)', border: '1px solid rgba(34,211,238,0.3)' }}&gt;&#13;&#10;        &lt;Text style={{ fontSize: 14.5, color: '#7DD3FC', lineHeight: 1.5 }}&gt;&#13;&#10;          会议纪要里连「谁发了言」都有 —— &lt;span style={{ fontWeight: 'bold' }}&gt;AI 纪要自动变成点名册&lt;/span&gt;，这是最惊喜的连接器红利&#13;&#10;        &lt;/Text&gt;&#13;&#10;      &lt;/Box&gt;&#13;&#10;    &lt;/Box&gt;&#13;&#10;&#13;&#10;    &lt;Box style={{ flex: 1, background: 'rgba(16,26,46,0.9)', border: '1px solid #1E3A5F', borderRadius: 14, padding: '22px 26px' }}&gt;&#13;&#10;      &lt;Text style={{ fontSize: 18, fontWeight: 'bold', color: '#F8FAFC' }}&gt;⏰ 每天早上，自动执行&lt;/Text&gt;&#13;&#10;      &lt;Box style={{ marginTop: 16, padding: '14px 18px', borderRadius: 10, background: '#0D1830', borderLeft: '3px solid #22D3EE' }}&gt;&#13;&#10;        &lt;Text style={{ fontSize: 15.5, color: '#67E8F9', fontWeight: 'bold' }}&gt;06:00 · local-import&lt;/Text&gt;&#13;&#10;        &lt;Text style={{ fontSize: 13, color: '#94A3B8', marginTop: 4 }}&gt;存量采集数据 → 学员/作业/纪要入库&lt;/Text&gt;&#13;&#10;      &lt;/Box&gt;&#13;&#10;      &lt;Box style={{ marginTop: 12, padding: '14px 18px', borderRadius: 10, background: '#0D1830', borderLeft: '3px solid #22D3EE' }}&gt;&#13;&#10;        &lt;Text style={{ fontSize: 15.5, color: '#67E8F9', fontWeight: 'bold' }}&gt;06:30 · tencent-sync&lt;/Text&gt;&#13;&#10;        &lt;Text style={{ fontSize: 13, color: '#94A3B8', marginTop: 4 }}&gt;问卷答卷/会议/文档 → 增量幂等同步&lt;/Text&gt;&#13;&#10;      &lt;/Box&gt;&#13;&#10;      &lt;Box style={{ marginTop: 16 }}&gt;&#13;&#10;        &lt;Text style={{ fontSize: 14, color: '#CBD5E1' }}&gt;✓ 同步日志全留痕（success/failed）&lt;/Text&gt;&#13;&#10;        &lt;Text style={{ fontSize: 14, color: '#CBD5E1', marginTop: 6 }}&gt;✓ 幂等设计，可重复执行不出错&lt;/Text&gt;&#13;&#10;        &lt;Text style={{ fontSize: 14, color: '#CBD5E1', marginTop: 6 }}&gt;✓ 服务端调度 + CLI 双通道&lt;/Text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连接器</a:t>
            </a:r>
            <a:r>
              <a:rPr lang="en-US" sz="25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自动化：数据自己走进来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7143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连接器零代码授权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每日定时同步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全程日志留痕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71500" y="1171575"/>
            <a:ext cx="6286500" cy="933450"/>
          </a:xfrm>
          <a:prstGeom prst="roundRect">
            <a:avLst>
              <a:gd name="adj" fmla="val 12245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800100" y="14287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5B84F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47750" y="1419225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腾讯问卷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47750" y="1695450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学员每周反馈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份实时答卷回流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667375" y="1562100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tencent-survey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71500" y="2276475"/>
            <a:ext cx="6286500" cy="933450"/>
          </a:xfrm>
          <a:prstGeom prst="roundRect">
            <a:avLst>
              <a:gd name="adj" fmla="val 12245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800100" y="25336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5B84FA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47750" y="252412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腾讯文档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47750" y="280035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份文档资料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清单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表格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收集表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810250" y="2667000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tencent-docs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3381375"/>
            <a:ext cx="6286500" cy="933450"/>
          </a:xfrm>
          <a:prstGeom prst="roundRect">
            <a:avLst>
              <a:gd name="adj" fmla="val 12245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800100" y="36385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5B84FA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47750" y="362902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腾讯会议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47750" y="3905250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22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场课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份智能纪要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发言人即出勤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286500" y="3771900"/>
            <a:ext cx="342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tmeet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4638675"/>
            <a:ext cx="6286500" cy="638175"/>
          </a:xfrm>
          <a:prstGeom prst="roundRect">
            <a:avLst>
              <a:gd name="adj" fmla="val 14925"/>
            </a:avLst>
          </a:prstGeom>
          <a:solidFill>
            <a:srgbClr val="22D3EE">
              <a:alpha val="6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482917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7DD3FC"/>
                </a:solidFill>
                <a:latin typeface="Microsoft YaHei"/>
                <a:ea typeface="Microsoft YaHei"/>
              </a:rPr>
              <a:t>会议纪要里连「谁发了言」都有</a:t>
            </a:r>
            <a:r>
              <a:rPr lang="en-US" sz="1088">
                <a:solidFill>
                  <a:srgbClr val="7DD3F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en-US" sz="1088" b="1">
                <a:solidFill>
                  <a:srgbClr val="7DD3F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88" b="1">
                <a:solidFill>
                  <a:srgbClr val="7DD3FC"/>
                </a:solidFill>
                <a:latin typeface="Microsoft YaHei"/>
                <a:ea typeface="Microsoft YaHei"/>
              </a:rPr>
              <a:t>纪要自动变成点名册</a:t>
            </a:r>
            <a:r>
              <a:rPr lang="zh-CN" sz="1088">
                <a:solidFill>
                  <a:srgbClr val="7DD3FC"/>
                </a:solidFill>
                <a:latin typeface="Microsoft YaHei"/>
                <a:ea typeface="Microsoft YaHei"/>
              </a:rPr>
              <a:t>，这是最惊喜的连接器红利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086600" y="1171575"/>
            <a:ext cx="4533900" cy="4105275"/>
          </a:xfrm>
          <a:prstGeom prst="roundRect">
            <a:avLst>
              <a:gd name="adj" fmla="val 324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334250" y="1381125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⏰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每天早上，自动执行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362825" y="1743075"/>
            <a:ext cx="4038600" cy="638175"/>
          </a:xfrm>
          <a:prstGeom prst="roundRect">
            <a:avLst>
              <a:gd name="adj" fmla="val 14925"/>
            </a:avLst>
          </a:prstGeom>
          <a:solidFill>
            <a:srgbClr val="0D1830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362825" y="1743075"/>
            <a:ext cx="4038600" cy="638175"/>
          </a:xfrm>
          <a:custGeom>
            <a:pathLst>
              <a:path w="424" h="6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0"/>
                </a:lnTo>
                <a:cubicBezTo>
                  <a:pt x="3" y="63"/>
                  <a:pt x="5" y="66"/>
                  <a:pt x="8" y="67"/>
                </a:cubicBezTo>
                <a:cubicBezTo>
                  <a:pt x="3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534275" y="1876425"/>
            <a:ext cx="36671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67E8F9"/>
                </a:solidFill>
                <a:latin typeface="Microsoft YaHei"/>
                <a:ea typeface="Microsoft YaHei"/>
              </a:rPr>
              <a:t>06:00 · local-import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534275" y="2095500"/>
            <a:ext cx="3667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存量采集数据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学员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作业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纪要入库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362825" y="2495550"/>
            <a:ext cx="4038600" cy="638175"/>
          </a:xfrm>
          <a:prstGeom prst="roundRect">
            <a:avLst>
              <a:gd name="adj" fmla="val 14925"/>
            </a:avLst>
          </a:prstGeom>
          <a:solidFill>
            <a:srgbClr val="0D1830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7362825" y="2495550"/>
            <a:ext cx="4038600" cy="638175"/>
          </a:xfrm>
          <a:custGeom>
            <a:pathLst>
              <a:path w="424" h="6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0"/>
                </a:lnTo>
                <a:cubicBezTo>
                  <a:pt x="3" y="63"/>
                  <a:pt x="5" y="66"/>
                  <a:pt x="8" y="67"/>
                </a:cubicBezTo>
                <a:cubicBezTo>
                  <a:pt x="3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534275" y="2628900"/>
            <a:ext cx="36671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67E8F9"/>
                </a:solidFill>
                <a:latin typeface="Microsoft YaHei"/>
                <a:ea typeface="Microsoft YaHei"/>
              </a:rPr>
              <a:t>06:30 · tencent-sync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534275" y="2847975"/>
            <a:ext cx="3667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问卷答卷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会议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文档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增量幂等同步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34250" y="3286125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同步日志全留痕（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success/failed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334250" y="3505200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幂等设计，可重复执行不出错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334250" y="3724275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服务端调度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CLI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双通道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7" name="" descr="&lt;Slide style={{ width: 1280, height: 720, background: '#0B1220', flexDirection: 'column', padding: '28px 60px 0' }}&gt;&#13;&#10;  &lt;Text style={{ fontSize: 34, fontWeight: 'bold', color: '#F8FAFC' }}&gt;数据中枢：每天陪伴我的教学工作台&lt;/Text&gt;&#13;&#10;  &lt;Text style={{ fontSize: 15, color: '#64748B', marginTop: 6 }}&gt;本地优先 · SQLite 数据不出本机 · 网页即开即用&lt;/Text&gt;&#13;&#10;&#13;&#10;  &lt;Box style={{ flexDirection: 'row', gap: 26, marginTop: 28 }}&gt;&#13;&#10;    &lt;Image src=&quot;assets/shot-dashboard.jpg&quot; style={{ width: 700, height: 394, borderRadius: 12, border: '1px solid #1E3A5F', objectFit: 'cover' }} /&gt;&#13;&#10;    &lt;Box style={{ flex: 1, flexDirection: 'column', gap: 14 }}&gt;&#13;&#10;      {[&#13;&#10;        { t: '学员 360°', d: '档案/提交/卡点/愿望/时间线' },&#13;&#10;        { t: '作业看板', d: '提交率、迟交标记、明细速览' },&#13;&#10;        { t: '纪要知识库', d: '全部课的纪要全文检索' },&#13;&#10;        { t: '满意度 / NPS', d: '评分趋势与分群实时可见' },&#13;&#10;      ].map((x) =&gt; (&#13;&#10;        &lt;Box key={x.t} style={{ background: 'rgba(16,26,46,0.9)', border: '1px solid #1E3A5F', borderRadius: 12, padding: '20px 20px' }}&gt;&#13;&#10;          &lt;Text style={{ fontSize: 17, fontWeight: 'bold', color: '#7DD3FC' }}&gt;{x.t}&lt;/Text&gt;&#13;&#10;          &lt;Text style={{ fontSize: 13.5, color: '#94A3B8', marginTop: 4 }}&gt;{x.d}&lt;/Text&gt;&#13;&#10;        &lt;/Box&gt;&#13;&#10;      ))}&#13;&#10;    &lt;/Box&gt;&#13;&#10;  &lt;/Box&gt;&#13;&#10;&#13;&#10;  &lt;Box style={{ flexDirection: 'row', gap: 16, marginTop: 22 }}&gt;&#13;&#10;    {[&#13;&#10;      { n: '48', l: '学员' }, { n: '21', l: '近 30 天活跃' }, { n: '104', l: '愿望' }, { n: '4.5', l: '满意度' }, { n: '100', l: 'NPS' },&#13;&#10;    ].map((s) =&gt; (&#13;&#10;      &lt;Box key={s.l} style={{ flex: 1, alignItems: 'center', padding: '10px 0', borderRadius: 10, background: 'rgba(16,26,46,0.9)', border: '1px solid #1E3A5F' }}&gt;&#13;&#10;        &lt;Text style={{ fontSize: 26, fontWeight: 'bold', color: '#FBBF24', fontFamily: 'JetBrains Mono, Consolas' }}&gt;{s.n}&lt;/Text&gt;&#13;&#10;        &lt;Text style={{ fontSize: 12.5, color: '#94A3B8', marginTop: 2 }}&gt;{s.l}&lt;/Text&gt;&#13;&#10;      &lt;/Box&gt;&#13;&#10;    ))}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数据中枢：每天陪伴我的教学工作台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71500" y="7143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本地优先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SQLite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数据不出本机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网页即开即用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71500" y="1152525"/>
            <a:ext cx="6667500" cy="3752850"/>
          </a:xfrm>
          <a:prstGeom prst="rect">
            <a:avLst/>
          </a:prstGeom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pic>
        <p:nvPicPr>
          <p:cNvPr id="192" name=""/>
          <p:cNvPicPr>
            <a:picLocks noChangeAspect="1"/>
          </p:cNvPicPr>
          <p:nvPr/>
        </p:nvPicPr>
        <p:blipFill>
          <a:blip r:embed="rId1"/>
          <a:srcRect l="31" t="0" r="31" b="0"/>
          <a:stretch>
            <a:fillRect/>
          </a:stretch>
        </p:blipFill>
        <p:spPr>
          <a:xfrm rot="0" flipH="0" flipV="0">
            <a:off x="571500" y="1152525"/>
            <a:ext cx="6667500" cy="3752850"/>
          </a:xfrm>
          <a:prstGeom prst="roundRect">
            <a:avLst>
              <a:gd name="adj" fmla="val 3046"/>
            </a:avLst>
          </a:prstGeom>
          <a:ln/>
        </p:spPr>
      </p:pic>
      <p:sp>
        <p:nvSpPr>
          <p:cNvPr id="193" name=""/>
          <p:cNvSpPr/>
          <p:nvPr/>
        </p:nvSpPr>
        <p:spPr>
          <a:xfrm rot="0" flipH="0" flipV="0">
            <a:off x="7486650" y="1152525"/>
            <a:ext cx="4133850" cy="781050"/>
          </a:xfrm>
          <a:prstGeom prst="roundRect">
            <a:avLst>
              <a:gd name="adj" fmla="val 1463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677150" y="13430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DD3FC"/>
                </a:solidFill>
                <a:latin typeface="Microsoft YaHei"/>
                <a:ea typeface="Microsoft YaHei"/>
              </a:rPr>
              <a:t>学员</a:t>
            </a:r>
            <a:r>
              <a:rPr lang="en-US" sz="1275" b="1">
                <a:solidFill>
                  <a:srgbClr val="7DD3FC"/>
                </a:solidFill>
                <a:latin typeface="Microsoft YaHei"/>
                <a:ea typeface="Microsoft YaHei"/>
              </a:rPr>
              <a:t xml:space="preserve"> 360°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77150" y="1581150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档案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提交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卡点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愿望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时间线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486650" y="2066925"/>
            <a:ext cx="4133850" cy="781050"/>
          </a:xfrm>
          <a:prstGeom prst="roundRect">
            <a:avLst>
              <a:gd name="adj" fmla="val 1463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677150" y="22574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DD3FC"/>
                </a:solidFill>
                <a:latin typeface="Microsoft YaHei"/>
                <a:ea typeface="Microsoft YaHei"/>
              </a:rPr>
              <a:t>作业看板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77150" y="2495550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提交率、迟交标记、明细速览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486650" y="2981325"/>
            <a:ext cx="4133850" cy="781050"/>
          </a:xfrm>
          <a:prstGeom prst="roundRect">
            <a:avLst>
              <a:gd name="adj" fmla="val 1463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77150" y="31718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DD3FC"/>
                </a:solidFill>
                <a:latin typeface="Microsoft YaHei"/>
                <a:ea typeface="Microsoft YaHei"/>
              </a:rPr>
              <a:t>纪要知识库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677150" y="3409950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全部课的纪要全文检索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486650" y="3895725"/>
            <a:ext cx="4133850" cy="781050"/>
          </a:xfrm>
          <a:prstGeom prst="roundRect">
            <a:avLst>
              <a:gd name="adj" fmla="val 14634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677150" y="40862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DD3FC"/>
                </a:solidFill>
                <a:latin typeface="Microsoft YaHei"/>
                <a:ea typeface="Microsoft YaHei"/>
              </a:rPr>
              <a:t>满意度</a:t>
            </a:r>
            <a:r>
              <a:rPr lang="en-US" sz="1275" b="1">
                <a:solidFill>
                  <a:srgbClr val="7DD3FC"/>
                </a:solidFill>
                <a:latin typeface="Microsoft YaHei"/>
                <a:ea typeface="Microsoft YaHei"/>
              </a:rPr>
              <a:t xml:space="preserve"> / NPS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77150" y="4324350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评分趋势与分群实时可见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71500" y="5114925"/>
            <a:ext cx="2085975" cy="657225"/>
          </a:xfrm>
          <a:prstGeom prst="roundRect">
            <a:avLst>
              <a:gd name="adj" fmla="val 1449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476375" y="5210175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BF24"/>
                </a:solidFill>
                <a:latin typeface="JetBrains Mono"/>
                <a:ea typeface="JetBrains Mono"/>
              </a:rPr>
              <a:t>48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495425" y="55340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学员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2809875" y="5114925"/>
            <a:ext cx="2085975" cy="657225"/>
          </a:xfrm>
          <a:prstGeom prst="roundRect">
            <a:avLst>
              <a:gd name="adj" fmla="val 1449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714750" y="5210175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BF24"/>
                </a:solidFill>
                <a:latin typeface="JetBrains Mono"/>
                <a:ea typeface="JetBrains Mono"/>
              </a:rPr>
              <a:t>21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505200" y="5534025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近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天活跃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048250" y="5114925"/>
            <a:ext cx="2095500" cy="657225"/>
          </a:xfrm>
          <a:prstGeom prst="roundRect">
            <a:avLst>
              <a:gd name="adj" fmla="val 1449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895975" y="5210175"/>
            <a:ext cx="409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BF24"/>
                </a:solidFill>
                <a:latin typeface="JetBrains Mono"/>
                <a:ea typeface="JetBrains Mono"/>
              </a:rPr>
              <a:t>104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981700" y="55340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愿望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296150" y="5114925"/>
            <a:ext cx="2085975" cy="657225"/>
          </a:xfrm>
          <a:prstGeom prst="roundRect">
            <a:avLst>
              <a:gd name="adj" fmla="val 1449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134350" y="5210175"/>
            <a:ext cx="409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BF24"/>
                </a:solidFill>
                <a:latin typeface="JetBrains Mono"/>
                <a:ea typeface="JetBrains Mono"/>
              </a:rPr>
              <a:t>4.5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62925" y="55340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满意度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9534525" y="5114925"/>
            <a:ext cx="2085975" cy="657225"/>
          </a:xfrm>
          <a:prstGeom prst="roundRect">
            <a:avLst>
              <a:gd name="adj" fmla="val 14493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372725" y="5210175"/>
            <a:ext cx="409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BF24"/>
                </a:solidFill>
                <a:latin typeface="JetBrains Mono"/>
                <a:ea typeface="JetBrains Mono"/>
              </a:rPr>
              <a:t>100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0458450" y="55340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NPS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0" name="" descr="&lt;Slide style={{ width: 1280, height: 720, background: '#0B1220', flexDirection: 'column', padding: '28px 60px 0' }}&gt;&#13;&#10;  &lt;Text style={{ fontSize: 34, fontWeight: 'bold', color: '#F8FAFC' }}&gt;讲课数据大屏：直播与复盘的作战室&lt;/Text&gt;&#13;&#10;  &lt;Text style={{ fontSize: 15, color: '#64748B', marginTop: 6 }}&gt;全屏深色 · 30 秒自动刷新 · 学员愿望实时轮播&lt;/Text&gt;&#13;&#10;&#13;&#10;  &lt;Image src=&quot;assets/shot-screen.jpg&quot; style={{ width: 1160, height: 500, marginTop: 16, borderRadius: 14, border: '1px solid #1E3A5F', objectFit: 'cover' }} /&gt;&#13;&#10;  &lt;Box style={{ flexDirection: 'row', gap: 14, marginTop: 14 }}&gt;&#13;&#10;    {[&#13;&#10;      { n: '48', l: '学员总数' }, { n: '21', l: '近 30 天活跃' }, { n: '10', l: '课堂出勤人次' },&#13;&#10;      { n: '4.5', l: '平均满意度' }, { n: '100', l: 'NPS' }, { n: '30s', l: '自动刷新' },&#13;&#10;    ].map((x) =&gt; (&#13;&#10;      &lt;Box key={x.l} style={{ flex: 1, alignItems: 'center', padding: '12px 0', borderRadius: 10, background: 'rgba(16,26,46,0.9)', border: '1px solid #1E3A5F' }}&gt;&#13;&#10;        &lt;Text style={{ fontSize: 24, fontWeight: 'bold', color: '#FBBF24', fontFamily: 'JetBrains Mono, Consolas' }}&gt;{x.n}&lt;/Text&gt;&#13;&#10;        &lt;Text style={{ fontSize: 12.5, color: '#94A3B8', marginTop: 2 }}&gt;{x.l}&lt;/Text&gt;&#13;&#10;      &lt;/Box&gt;&#13;&#10;    ))}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讲课数据大屏：直播与复盘的作战室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7143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全屏深色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30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秒自动刷新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学员愿望实时轮播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571500" y="1038225"/>
            <a:ext cx="11049000" cy="4762500"/>
          </a:xfrm>
          <a:prstGeom prst="rect">
            <a:avLst/>
          </a:prstGeom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 r:embed="rId1"/>
          <a:srcRect l="0" t="11685" r="0" b="11685"/>
          <a:stretch>
            <a:fillRect/>
          </a:stretch>
        </p:blipFill>
        <p:spPr>
          <a:xfrm rot="0" flipH="0" flipV="0">
            <a:off x="571500" y="1038225"/>
            <a:ext cx="11049000" cy="4762500"/>
          </a:xfrm>
          <a:prstGeom prst="roundRect">
            <a:avLst>
              <a:gd name="adj" fmla="val 2800"/>
            </a:avLst>
          </a:prstGeom>
          <a:ln/>
        </p:spPr>
      </p:pic>
      <p:sp>
        <p:nvSpPr>
          <p:cNvPr id="226" name=""/>
          <p:cNvSpPr/>
          <p:nvPr/>
        </p:nvSpPr>
        <p:spPr>
          <a:xfrm rot="0" flipH="0" flipV="0">
            <a:off x="571500" y="5934075"/>
            <a:ext cx="1733550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314450" y="604837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48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200150" y="6343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学员总数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2438400" y="5934075"/>
            <a:ext cx="1724025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171825" y="604837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21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952750" y="6343650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近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天活跃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4295775" y="5934075"/>
            <a:ext cx="1733550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38725" y="604837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810125" y="6343650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课堂出勤人次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162675" y="5934075"/>
            <a:ext cx="1733550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38950" y="6048375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4.5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734175" y="634365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平均满意度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029575" y="5934075"/>
            <a:ext cx="1724025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705850" y="6048375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100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72525" y="63436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NPS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9886950" y="5934075"/>
            <a:ext cx="1733550" cy="666750"/>
          </a:xfrm>
          <a:prstGeom prst="roundRect">
            <a:avLst>
              <a:gd name="adj" fmla="val 1428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563225" y="6048375"/>
            <a:ext cx="381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BF24"/>
                </a:solidFill>
                <a:latin typeface="JetBrains Mono"/>
                <a:ea typeface="JetBrains Mono"/>
              </a:rPr>
              <a:t>30s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515600" y="6343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自动刷新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4" name="" descr="&lt;Slide style={{ width: 1280, height: 720, background: '#0B1220', flexDirection: 'column', padding: '26px 56px 0' }}&gt;&#13;&#10;  &lt;Text style={{ fontSize: 34, fontWeight: 'bold', color: '#F8FAFC' }}&gt;双专家团：不是工具，是会协作的团队&lt;/Text&gt;&#13;&#10;  &lt;Text style={{ fontSize: 15, color: '#64748B', marginTop: 6 }}&gt;Team 型 · 主理人 + 成员 · 现场用 WorkBuddy 搭建（生成配置 → 生成头像 → 校验 → 注册）&lt;/Text&gt;&#13;&#10;&#13;&#10;  &lt;Box style={{ flexDirection: 'row', gap: 22, marginTop: 20 }}&gt;&#13;&#10;    &lt;Box style={{ flex: 1, background: 'rgba(16,26,46,0.9)', border: '1.5px solid #5B84FA', borderRadius: 16, padding: '26px 24px' }}&gt;&#13;&#10;      &lt;Box style={{ flexDirection: 'row', alignItems: 'center', justifyContent: 'space-between' }}&gt;&#13;&#10;        &lt;Text style={{ fontSize: 21, fontWeight: 'bold', color: '#93C5FD' }}&gt;💙 SAINT 助教团&lt;/Text&gt;&#13;&#10;        &lt;Text style={{ fontSize: 12.5, color: '#7B8DB3' }}&gt;日常使用 · 查数据给建议&lt;/Text&gt;&#13;&#10;      &lt;/Box&gt;&#13;&#10;      &lt;Box style={{ flexDirection: 'row', alignItems: 'center', gap: 12, marginTop: 14 }}&gt;&#13;&#10;        &lt;Image src=&quot;assets/ta-lead.jpg&quot; style={{ width: 52, height: 52, borderRadius: 9999, border: '2px solid #5B84FA' }} /&gt;&#13;&#10;        &lt;Box&gt;&#13;&#10;          &lt;Text style={{ fontSize: 16, fontWeight: 'bold', color: '#F8FAFC' }}&gt;卓有成 · 主理人&lt;/Text&gt;&#13;&#10;          &lt;Text style={{ fontSize: 12.5, color: '#94A3B8' }}&gt;教学操盘手 · 调度汇编&lt;/Text&gt;&#13;&#10;        &lt;/Box&gt;&#13;&#10;      &lt;/Box&gt;&#13;&#10;      &lt;Box style={{ flexDirection: 'row', gap: 12, marginTop: 18 }}&gt;&#13;&#10;        {[&#13;&#10;          { img: 'ta-miao.jpg', n: '苗知秋', p: '学情分析师', d: '画像/趋势/风险' },&#13;&#10;          { img: 'ta-ke.jpg', n: '柯大纲', p: '备课策划师', d: '纪要/愿望/方案' },&#13;&#10;          { img: 'ta-zhen.jpg', n: '甄贴心', p: '学员关怀官', d: '满意度/话术' },&#13;&#10;        ].map((m) =&gt; (&#13;&#10;          &lt;Box key={m.n} style={{ flex: 1, alignItems: 'center', background: '#0D1830', borderRadius: 10, padding: '12px 6px' }}&gt;&#13;&#10;            &lt;Image src={'assets/' + m.img} style={{ width: 52, height: 52, borderRadius: 9999 }} /&gt;&#13;&#10;            &lt;Text style={{ fontSize: 14, fontWeight: 'bold', color: '#F8FAFC', marginTop: 8 }}&gt;{m.n}&lt;/Text&gt;&#13;&#10;            &lt;Text style={{ fontSize: 11, color: '#22D3EE', marginTop: 2 }}&gt;{m.p}&lt;/Text&gt;&#13;&#10;            &lt;Text style={{ fontSize: 10.5, color: '#64748B', marginTop: 4, textAlign: 'center' }}&gt;{m.d}&lt;/Text&gt;&#13;&#10;          &lt;/Box&gt;&#13;&#10;        ))}&#13;&#10;      &lt;/Box&gt;&#13;&#10;      &lt;Text style={{ fontSize: 13, color: '#7B8DB3', marginTop: 18, lineHeight: 1.5 }}&gt;主理人建团 → 并行调度 → 成员查真实数据回传 → 汇编交付，&lt;span style={{ color: '#7DD3FC' }}&gt;协作过程全程可见&lt;/span&gt;&lt;/Text&gt;&#13;&#10;    &lt;/Box&gt;&#13;&#10;&#13;&#10;    &lt;Box style={{ flex: 1, background: 'rgba(26,21,8,0.9)', border: '1.5px solid #F59E0B', borderRadius: 16, padding: '20px 24px' }}&gt;&#13;&#10;      &lt;Box style={{ flexDirection: 'row', alignItems: 'center', justifyContent: 'space-between' }}&gt;&#13;&#10;        &lt;Text style={{ fontSize: 21, fontWeight: 'bold', color: '#FCD34D' }}&gt;🛠️ 超级教师工作台开发团&lt;/Text&gt;&#13;&#10;        &lt;Text style={{ fontSize: 12.5, color: '#A1874B' }}&gt;自我复制 · 指导从零搭建&lt;/Text&gt;&#13;&#10;      &lt;/Box&gt;&#13;&#10;      &lt;Box style={{ flexDirection: 'row', alignItems: 'center', gap: 12, marginTop: 14 }}&gt;&#13;&#10;        &lt;Image src=&quot;assets/dev-lead.jpg&quot; style={{ width: 52, height: 52, borderRadius: 9999, border: '2px solid #F59E0B' }} /&gt;&#13;&#10;        &lt;Box&gt;&#13;&#10;          &lt;Text style={{ fontSize: 16, fontWeight: 'bold', color: '#F8FAFC' }}&gt;齐落成 · 主理人&lt;/Text&gt;&#13;&#10;          &lt;Text style={{ fontSize: 12.5, color: '#94A3B8' }}&gt;交付总监 · 四阶段验收&lt;/Text&gt;&#13;&#10;        &lt;/Box&gt;&#13;&#10;      &lt;/Box&gt;&#13;&#10;      &lt;Box style={{ flexDirection: 'row', gap: 12, marginTop: 14 }}&gt;&#13;&#10;        {[&#13;&#10;          { img: 'dev-an.jpg', n: '安启业', p: '环境搭建', d: 'Node/模板/启动' },&#13;&#10;          { img: 'dev-lian.jpg', n: '连汇通', p: '数据接入', d: '连接器/同步' },&#13;&#10;          { img: 'dev-ai.jpg', n: '艾配齐', p: 'AI 配置', d: 'Skill/专家团' },&#13;&#10;        ].map((m) =&gt; (&#13;&#10;          &lt;Box key={m.n} style={{ flex: 1, alignItems: 'center', background: '#0D1830', borderRadius: 10, padding: '12px 6px' }}&gt;&#13;&#10;            &lt;Image src={'assets/' + m.img} style={{ width: 46, height: 46, borderRadius: 9999 }} /&gt;&#13;&#10;            &lt;Text style={{ fontSize: 14, fontWeight: 'bold', color: '#F8FAFC', marginTop: 8 }}&gt;{m.n}&lt;/Text&gt;&#13;&#10;            &lt;Text style={{ fontSize: 11, color: '#FCD34D', marginTop: 2 }}&gt;{m.p}&lt;/Text&gt;&#13;&#10;            &lt;Text style={{ fontSize: 10.5, color: '#64748B', marginTop: 4, textAlign: 'center' }}&gt;{m.d}&lt;/Text&gt;&#13;&#10;          &lt;/Box&gt;&#13;&#10;        ))}&#13;&#10;      &lt;/Box&gt;&#13;&#10;      &lt;Text style={{ fontSize: 13, color: '#A1874B', marginTop: 18, lineHeight: 1.5 }}&gt;四阶段严格串行（环境→数据→AI→验收），&lt;span style={{ color: '#FCD34D' }}&gt;任何人一句话即可复刻整套工作台&lt;/span&gt;&lt;/Text&gt;&#13;&#10;    &lt;/Box&gt;&#13;&#10;  &lt;/Box&gt;&#13;&#10;&#13;&#10;  &lt;Box style={{ marginTop: 16, flexDirection: 'row', gap: 16 }}&gt;&#13;&#10;    {[&#13;&#10;      '注册留痕：Validate + Register 双脚本，时间戳可验',&#13;&#10;      '头像统一：WorkBuddy 现场生成，风格一致',&#13;&#10;      '定义透明：4 个成员 MD 全部可读可改',&#13;&#10;    ].map((t) =&gt; (&#13;&#10;      &lt;Box key={t} style={{ flex: 1, padding: '13px 16px', borderRadius: 10, background: 'rgba(16,26,46,0.9)', border: '1px solid #1E3A5F', alignItems: 'center' }}&gt;&#13;&#10;        &lt;Text style={{ fontSize: 13.5, color: '#7DD3FC', textAlign: 'center' }}&gt;{t}&lt;/Text&gt;&#13;&#10;      &lt;/Box&gt;&#13;&#10;    ))}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33400" y="247650"/>
            <a:ext cx="1112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双专家团：不是工具，是会协作的团队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695325"/>
            <a:ext cx="1112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Team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主理人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成员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现场用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搭建（生成配置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生成头像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校验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注册）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33400" y="1057275"/>
            <a:ext cx="5457825" cy="3219450"/>
          </a:xfrm>
          <a:prstGeom prst="roundRect">
            <a:avLst>
              <a:gd name="adj" fmla="val 4734"/>
            </a:avLst>
          </a:prstGeom>
          <a:solidFill>
            <a:srgbClr val="101A2E">
              <a:alpha val="90000"/>
            </a:srgbClr>
          </a:solidFill>
          <a:ln w="19050">
            <a:solidFill>
              <a:srgbClr val="5B84FA"/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62000" y="1304925"/>
            <a:ext cx="16287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💙 SAINT </a:t>
            </a:r>
            <a:r>
              <a:rPr lang="zh-CN" sz="1575" b="1">
                <a:solidFill>
                  <a:srgbClr val="93C5FD"/>
                </a:solidFill>
                <a:latin typeface="Microsoft YaHei"/>
                <a:ea typeface="Microsoft YaHei"/>
              </a:rPr>
              <a:t>助教团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467225" y="1362075"/>
            <a:ext cx="1295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7B8DB3"/>
                </a:solidFill>
                <a:latin typeface="Microsoft YaHei"/>
                <a:ea typeface="Microsoft YaHei"/>
              </a:rPr>
              <a:t>日常使用</a:t>
            </a:r>
            <a:r>
              <a:rPr lang="en-US" sz="938">
                <a:solidFill>
                  <a:srgbClr val="7B8DB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7B8DB3"/>
                </a:solidFill>
                <a:latin typeface="Microsoft YaHei"/>
                <a:ea typeface="Microsoft YaHei"/>
              </a:rPr>
              <a:t>查数据给建议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62000" y="1685925"/>
            <a:ext cx="495300" cy="495300"/>
          </a:xfrm>
          <a:prstGeom prst="rect">
            <a:avLst/>
          </a:prstGeom>
          <a:ln w="25400">
            <a:solidFill>
              <a:srgbClr val="5B84FA"/>
            </a:solidFill>
            <a:prstDash val="solid"/>
          </a:ln>
        </p:spPr>
        <p:txBody>
          <a:bodyPr/>
          <a:p/>
        </p:txBody>
      </p:sp>
      <p:pic>
        <p:nvPicPr>
          <p:cNvPr id="25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62000" y="1685925"/>
            <a:ext cx="495300" cy="495300"/>
          </a:xfrm>
          <a:prstGeom prst="roundRect">
            <a:avLst>
              <a:gd name="adj" fmla="val 19228846"/>
            </a:avLst>
          </a:prstGeom>
          <a:ln/>
        </p:spPr>
      </p:pic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371600" y="1771650"/>
            <a:ext cx="117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卓有成</a:t>
            </a:r>
            <a:r>
              <a:rPr lang="en-US" sz="120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主理人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371600" y="1962150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教学操盘手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调度汇编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62000" y="2352675"/>
            <a:ext cx="1590675" cy="1276350"/>
          </a:xfrm>
          <a:prstGeom prst="roundRect">
            <a:avLst>
              <a:gd name="adj" fmla="val 746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56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1314450" y="2466975"/>
            <a:ext cx="495300" cy="495300"/>
          </a:xfrm>
          <a:prstGeom prst="roundRect">
            <a:avLst>
              <a:gd name="adj" fmla="val 19228846"/>
            </a:avLst>
          </a:prstGeom>
          <a:ln/>
        </p:spPr>
      </p:pic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362075" y="3038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苗知秋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295400" y="32194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2D3EE"/>
                </a:solidFill>
                <a:latin typeface="Microsoft YaHei"/>
                <a:ea typeface="Microsoft YaHei"/>
              </a:rPr>
              <a:t>学情分析师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219200" y="3390900"/>
            <a:ext cx="68580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画像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趋势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2466975" y="2352675"/>
            <a:ext cx="1590675" cy="1276350"/>
          </a:xfrm>
          <a:prstGeom prst="roundRect">
            <a:avLst>
              <a:gd name="adj" fmla="val 746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61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3019425" y="2466975"/>
            <a:ext cx="495300" cy="495300"/>
          </a:xfrm>
          <a:prstGeom prst="roundRect">
            <a:avLst>
              <a:gd name="adj" fmla="val 19228846"/>
            </a:avLst>
          </a:prstGeom>
          <a:ln/>
        </p:spPr>
      </p:pic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067050" y="3038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柯大纲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000375" y="32194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2D3EE"/>
                </a:solidFill>
                <a:latin typeface="Microsoft YaHei"/>
                <a:ea typeface="Microsoft YaHei"/>
              </a:rPr>
              <a:t>备课策划师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2924175" y="3390900"/>
            <a:ext cx="68580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纪要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愿望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171950" y="2352675"/>
            <a:ext cx="1590675" cy="1276350"/>
          </a:xfrm>
          <a:prstGeom prst="roundRect">
            <a:avLst>
              <a:gd name="adj" fmla="val 746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66" nam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 flipH="0" flipV="0">
            <a:off x="4724400" y="2466975"/>
            <a:ext cx="495300" cy="495300"/>
          </a:xfrm>
          <a:prstGeom prst="roundRect">
            <a:avLst>
              <a:gd name="adj" fmla="val 19228846"/>
            </a:avLst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772025" y="3038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甄贴心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705350" y="32194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2D3EE"/>
                </a:solidFill>
                <a:latin typeface="Microsoft YaHei"/>
                <a:ea typeface="Microsoft YaHei"/>
              </a:rPr>
              <a:t>学员关怀官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695825" y="3390900"/>
            <a:ext cx="54292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满意度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话术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2000" y="3800475"/>
            <a:ext cx="5000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7B8DB3"/>
                </a:solidFill>
                <a:latin typeface="Microsoft YaHei"/>
                <a:ea typeface="Microsoft YaHei"/>
              </a:rPr>
              <a:t>主理人建团</a:t>
            </a:r>
            <a:r>
              <a:rPr lang="en-US" sz="975">
                <a:solidFill>
                  <a:srgbClr val="7B8DB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7B8DB3"/>
                </a:solidFill>
                <a:latin typeface="Microsoft YaHei"/>
                <a:ea typeface="Microsoft YaHei"/>
              </a:rPr>
              <a:t>并行调度</a:t>
            </a:r>
            <a:r>
              <a:rPr lang="en-US" sz="975">
                <a:solidFill>
                  <a:srgbClr val="7B8DB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7B8DB3"/>
                </a:solidFill>
                <a:latin typeface="Microsoft YaHei"/>
                <a:ea typeface="Microsoft YaHei"/>
              </a:rPr>
              <a:t>成员查真实数据回传</a:t>
            </a:r>
            <a:r>
              <a:rPr lang="en-US" sz="975">
                <a:solidFill>
                  <a:srgbClr val="7B8DB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7B8DB3"/>
                </a:solidFill>
                <a:latin typeface="Microsoft YaHei"/>
                <a:ea typeface="Microsoft YaHei"/>
              </a:rPr>
              <a:t>汇编交付，</a:t>
            </a:r>
            <a:r>
              <a:rPr lang="zh-CN" sz="975">
                <a:solidFill>
                  <a:srgbClr val="7DD3FC"/>
                </a:solidFill>
                <a:latin typeface="Microsoft YaHei"/>
                <a:ea typeface="Microsoft YaHei"/>
              </a:rPr>
              <a:t>协作过程全程可见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200775" y="1057275"/>
            <a:ext cx="5457825" cy="3219450"/>
          </a:xfrm>
          <a:prstGeom prst="roundRect">
            <a:avLst>
              <a:gd name="adj" fmla="val 4734"/>
            </a:avLst>
          </a:prstGeom>
          <a:solidFill>
            <a:srgbClr val="1A1508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429375" y="1247775"/>
            <a:ext cx="2343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CD34D"/>
                </a:solidFill>
                <a:latin typeface="Microsoft YaHei"/>
                <a:ea typeface="Microsoft YaHei"/>
              </a:rPr>
              <a:t xml:space="preserve">🛠️ </a:t>
            </a:r>
            <a:r>
              <a:rPr lang="zh-CN" sz="1575" b="1">
                <a:solidFill>
                  <a:srgbClr val="FCD34D"/>
                </a:solidFill>
                <a:latin typeface="Microsoft YaHei"/>
                <a:ea typeface="Microsoft YaHei"/>
              </a:rPr>
              <a:t>超级教师工作台开发团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134600" y="1304925"/>
            <a:ext cx="1295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A1874B"/>
                </a:solidFill>
                <a:latin typeface="Microsoft YaHei"/>
                <a:ea typeface="Microsoft YaHei"/>
              </a:rPr>
              <a:t>自我复制</a:t>
            </a:r>
            <a:r>
              <a:rPr lang="en-US" sz="938">
                <a:solidFill>
                  <a:srgbClr val="A187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A1874B"/>
                </a:solidFill>
                <a:latin typeface="Microsoft YaHei"/>
                <a:ea typeface="Microsoft YaHei"/>
              </a:rPr>
              <a:t>指导从零搭建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429375" y="1628775"/>
            <a:ext cx="495300" cy="495300"/>
          </a:xfrm>
          <a:prstGeom prst="rect">
            <a:avLst/>
          </a:prstGeom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 flipH="0" flipV="0">
            <a:off x="6429375" y="1628775"/>
            <a:ext cx="495300" cy="495300"/>
          </a:xfrm>
          <a:prstGeom prst="roundRect">
            <a:avLst>
              <a:gd name="adj" fmla="val 19228846"/>
            </a:avLst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38975" y="1714500"/>
            <a:ext cx="117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齐落成</a:t>
            </a:r>
            <a:r>
              <a:rPr lang="en-US" sz="120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主理人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38975" y="1905000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交付总监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四阶段验收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429375" y="2257425"/>
            <a:ext cx="1590675" cy="1219200"/>
          </a:xfrm>
          <a:prstGeom prst="roundRect">
            <a:avLst>
              <a:gd name="adj" fmla="val 781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 flipH="0" flipV="0">
            <a:off x="7010400" y="2371725"/>
            <a:ext cx="438150" cy="438150"/>
          </a:xfrm>
          <a:prstGeom prst="roundRect">
            <a:avLst>
              <a:gd name="adj" fmla="val 21736957"/>
            </a:avLst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029450" y="2886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安启业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019925" y="30670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CD34D"/>
                </a:solidFill>
                <a:latin typeface="Microsoft YaHei"/>
                <a:ea typeface="Microsoft YaHei"/>
              </a:rPr>
              <a:t>环境搭建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48475" y="3238500"/>
            <a:ext cx="75247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Node/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模板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启动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134350" y="2257425"/>
            <a:ext cx="1590675" cy="1219200"/>
          </a:xfrm>
          <a:prstGeom prst="roundRect">
            <a:avLst>
              <a:gd name="adj" fmla="val 781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84" name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 flipH="0" flipV="0">
            <a:off x="8715375" y="2371725"/>
            <a:ext cx="438150" cy="438150"/>
          </a:xfrm>
          <a:prstGeom prst="roundRect">
            <a:avLst>
              <a:gd name="adj" fmla="val 21736957"/>
            </a:avLst>
          </a:prstGeom>
          <a:ln/>
        </p:spPr>
      </p:pic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734425" y="2886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连汇通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724900" y="30670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CD34D"/>
                </a:solidFill>
                <a:latin typeface="Microsoft YaHei"/>
                <a:ea typeface="Microsoft YaHei"/>
              </a:rPr>
              <a:t>数据接入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658225" y="3238500"/>
            <a:ext cx="54292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连接器</a:t>
            </a: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同步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9839325" y="2257425"/>
            <a:ext cx="1590675" cy="1219200"/>
          </a:xfrm>
          <a:prstGeom prst="roundRect">
            <a:avLst>
              <a:gd name="adj" fmla="val 7813"/>
            </a:avLst>
          </a:prstGeom>
          <a:solidFill>
            <a:srgbClr val="0D1830"/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 flipH="0" flipV="0">
            <a:off x="10420350" y="2371725"/>
            <a:ext cx="438150" cy="438150"/>
          </a:xfrm>
          <a:prstGeom prst="roundRect">
            <a:avLst>
              <a:gd name="adj" fmla="val 21736957"/>
            </a:avLst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439400" y="2886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艾配齐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458450" y="3067050"/>
            <a:ext cx="352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CD34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25">
                <a:solidFill>
                  <a:srgbClr val="FCD34D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363200" y="3238500"/>
            <a:ext cx="54292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>
                <a:solidFill>
                  <a:srgbClr val="64748B"/>
                </a:solidFill>
                <a:latin typeface="Microsoft YaHei"/>
                <a:ea typeface="Microsoft YaHei"/>
              </a:rPr>
              <a:t>Skill/</a:t>
            </a:r>
            <a:r>
              <a:rPr lang="zh-CN" sz="788">
                <a:solidFill>
                  <a:srgbClr val="64748B"/>
                </a:solidFill>
                <a:latin typeface="Microsoft YaHei"/>
                <a:ea typeface="Microsoft YaHei"/>
              </a:rPr>
              <a:t>专家团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429375" y="3648075"/>
            <a:ext cx="5000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A1874B"/>
                </a:solidFill>
                <a:latin typeface="Microsoft YaHei"/>
                <a:ea typeface="Microsoft YaHei"/>
              </a:rPr>
              <a:t>四阶段严格串行（环境→数据→</a:t>
            </a:r>
            <a:r>
              <a:rPr lang="en-US" sz="975">
                <a:solidFill>
                  <a:srgbClr val="A1874B"/>
                </a:solidFill>
                <a:latin typeface="Microsoft YaHei"/>
                <a:ea typeface="Microsoft YaHei"/>
              </a:rPr>
              <a:t>AI→</a:t>
            </a:r>
            <a:r>
              <a:rPr lang="zh-CN" sz="975">
                <a:solidFill>
                  <a:srgbClr val="A1874B"/>
                </a:solidFill>
                <a:latin typeface="Microsoft YaHei"/>
                <a:ea typeface="Microsoft YaHei"/>
              </a:rPr>
              <a:t>验收），</a:t>
            </a:r>
            <a:r>
              <a:rPr lang="zh-CN" sz="975">
                <a:solidFill>
                  <a:srgbClr val="FCD34D"/>
                </a:solidFill>
                <a:latin typeface="Microsoft YaHei"/>
                <a:ea typeface="Microsoft YaHei"/>
              </a:rPr>
              <a:t>任何人一句话即可复刻整套工作台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33400" y="4429125"/>
            <a:ext cx="3609975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8200" y="4552950"/>
            <a:ext cx="30003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注册留痕：</a:t>
            </a:r>
            <a:r>
              <a:rPr lang="en-US" sz="1013">
                <a:solidFill>
                  <a:srgbClr val="7DD3FC"/>
                </a:solidFill>
                <a:latin typeface="Microsoft YaHei"/>
                <a:ea typeface="Microsoft YaHei"/>
              </a:rPr>
              <a:t xml:space="preserve">Validate + Register </a:t>
            </a: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双脚本，时间戳可验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295775" y="4429125"/>
            <a:ext cx="3600450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819650" y="4552950"/>
            <a:ext cx="25622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头像统一：</a:t>
            </a:r>
            <a:r>
              <a:rPr lang="en-US" sz="1013">
                <a:solidFill>
                  <a:srgbClr val="7DD3FC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现场生成，风格一致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048625" y="4429125"/>
            <a:ext cx="3609975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743950" y="4552950"/>
            <a:ext cx="22193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定义透明：</a:t>
            </a:r>
            <a:r>
              <a:rPr lang="en-US" sz="1013">
                <a:solidFill>
                  <a:srgbClr val="7DD3FC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个成员</a:t>
            </a:r>
            <a:r>
              <a:rPr lang="en-US" sz="1013">
                <a:solidFill>
                  <a:srgbClr val="7DD3FC"/>
                </a:solidFill>
                <a:latin typeface="Microsoft YaHei"/>
                <a:ea typeface="Microsoft YaHei"/>
              </a:rPr>
              <a:t xml:space="preserve"> MD </a:t>
            </a:r>
            <a:r>
              <a:rPr lang="zh-CN" sz="1013">
                <a:solidFill>
                  <a:srgbClr val="7DD3FC"/>
                </a:solidFill>
                <a:latin typeface="Microsoft YaHei"/>
                <a:ea typeface="Microsoft YaHei"/>
              </a:rPr>
              <a:t>全部可读可改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00" name="" descr="&lt;Slide style={{ width: 1280, height: 720, background: '#0B1220', position: 'relative', padding: 0, overflow: 'hidden' }}&gt;&#13;&#10;  &lt;Box style={{ position: 'absolute', top: 0, left: 0, width: 1280, height: 720, background: 'radial-gradient(ellipse at center, rgba(91,132,250,0.12) 0%, rgba(11,18,32,0) 60%)' }} /&gt;&#13;&#10;  &lt;Box style={{ position: 'absolute', top: 120, left: 0, width: 1280, alignItems: 'center' }}&gt;&#13;&#10;    &lt;Box style={{ padding: '8px 30px', borderRadius: 9999, border: '1px solid #F59E0B', background: 'rgba(26,21,8,0.9)' }}&gt;&#13;&#10;      &lt;Text style={{ fontSize: 17, color: '#FCD34D', letterSpacing: 5 }}&gt;⏱ 现场演示 · 接下来 3 分钟&lt;/Text&gt;&#13;&#10;    &lt;/Box&gt;&#13;&#10;    &lt;Text style={{ fontSize: 46, fontWeight: 'bold', color: '#F8FAFC', marginTop: 28, textAlign: 'center' }}&gt;不是放录屏 —— 是现在、在这里、用 WorkBuddy 现场搭建&lt;/Text&gt;&#13;&#10;  &lt;/Box&gt;&#13;&#10;&#13;&#10;  &lt;Box style={{ position: 'absolute', top: 330, left: 90, width: 1100, flexDirection: 'row', gap: 22 }}&gt;&#13;&#10;    {[&#13;&#10;      { n: '演示 ①', t: 'SAINT 助教团', d: '专家中心一句话转化 → 4 成员阵容 → 现场提问看多角色协作 → 注册记录时间戳可验', c: '#5B84FA' },&#13;&#10;      { n: '演示 ②', t: '工作台开发团', d: '现场让它指导&quot;从零搭建&quot; → 四阶段串行调度 → 系统会自我复制', c: '#F59E0B' },&#13;&#10;    ].map((d) =&gt; (&#13;&#10;      &lt;Box key={d.n} style={{ flex: 1, background: 'rgba(16,26,46,0.9)', border: '1px solid #1E3A5F', borderRadius: 14, padding: '40px 30px', borderLeft: '4px solid ' + d.c }}&gt;&#13;&#10;        &lt;Text style={{ fontSize: 15, color: d.c, letterSpacing: 2 }}&gt;{d.n}&lt;/Text&gt;&#13;&#10;        &lt;Text style={{ fontSize: 24, fontWeight: 'bold', color: '#F8FAFC', marginTop: 10 }}&gt;{d.t}&lt;/Text&gt;&#13;&#10;        &lt;Text style={{ fontSize: 15, color: '#94A3B8', marginTop: 14, lineHeight: 1.7 }}&gt;{d.d}&lt;/Text&gt;&#13;&#10;      &lt;/Box&gt;&#13;&#10;    ))}&#13;&#10;  &lt;/Box&gt;&#13;&#10;  &lt;Box style={{ position: 'absolute', bottom: 60, left: 90, width: 1100, padding: '16px 24px', borderRadius: 12, background: 'rgba(16,26,46,0.9)', border: '1px dashed #334155' }}&gt;&#13;&#10;    &lt;Text style={{ fontSize: 14.5, color: '#94A3B8', textAlign: 'center' }}&gt;兜底预案：若现场网络受限，改由终端展示专家包定义文件与注册日志 —— 证据同效，过程更硬核&lt;/Text&gt;&#13;&#10;  &lt;/Box&gt;&#13;&#10;  &lt;Text style={{ position: 'absolute', bottom: 22, left: 60, fontSize: 14, color: '#475569' }}&gt;（此页停留 3 分钟，切换 WorkBuddy 现场操作）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4FA">
                  <a:alpha val="12000"/>
                </a:srgbClr>
              </a:gs>
              <a:gs pos="60000">
                <a:srgbClr val="0B1220">
                  <a:alpha val="0"/>
                </a:srgbClr>
              </a:gs>
            </a:gsLst>
            <a:path path="rect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4391025" y="1143000"/>
            <a:ext cx="3419475" cy="352425"/>
          </a:xfrm>
          <a:prstGeom prst="roundRect">
            <a:avLst>
              <a:gd name="adj" fmla="val 27024324"/>
            </a:avLst>
          </a:prstGeom>
          <a:solidFill>
            <a:srgbClr val="1A1508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676775" y="1219200"/>
            <a:ext cx="2847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FCD34D"/>
                </a:solidFill>
                <a:latin typeface="Microsoft YaHei"/>
                <a:ea typeface="Microsoft YaHei"/>
              </a:rPr>
              <a:t xml:space="preserve">⏱ </a:t>
            </a:r>
            <a:r>
              <a:rPr lang="zh-CN" sz="1275" spc="375">
                <a:solidFill>
                  <a:srgbClr val="FCD34D"/>
                </a:solidFill>
                <a:latin typeface="Microsoft YaHei"/>
                <a:ea typeface="Microsoft YaHei"/>
              </a:rPr>
              <a:t>现场演示</a:t>
            </a:r>
            <a:r>
              <a:rPr lang="en-US" sz="1275" spc="375">
                <a:solidFill>
                  <a:srgbClr val="FCD34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spc="375">
                <a:solidFill>
                  <a:srgbClr val="FCD34D"/>
                </a:solidFill>
                <a:latin typeface="Microsoft YaHei"/>
                <a:ea typeface="Microsoft YaHei"/>
              </a:rPr>
              <a:t>接下来</a:t>
            </a:r>
            <a:r>
              <a:rPr lang="en-US" sz="1275" spc="375">
                <a:solidFill>
                  <a:srgbClr val="FCD34D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 spc="375">
                <a:solidFill>
                  <a:srgbClr val="FCD34D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4300" y="1762125"/>
            <a:ext cx="11972925" cy="533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450" b="1">
                <a:solidFill>
                  <a:srgbClr val="F8FAFC"/>
                </a:solidFill>
                <a:latin typeface="Microsoft YaHei"/>
                <a:ea typeface="Microsoft YaHei"/>
              </a:rPr>
              <a:t>不是放录屏</a:t>
            </a:r>
            <a:r>
              <a:rPr lang="en-US" sz="34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3450" b="1">
                <a:solidFill>
                  <a:srgbClr val="F8FAFC"/>
                </a:solidFill>
                <a:latin typeface="Microsoft YaHei"/>
                <a:ea typeface="Microsoft YaHei"/>
              </a:rPr>
              <a:t>是现在、在这里、用</a:t>
            </a:r>
            <a:r>
              <a:rPr lang="en-US" sz="34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3450" b="1">
                <a:solidFill>
                  <a:srgbClr val="F8FAFC"/>
                </a:solidFill>
                <a:latin typeface="Microsoft YaHei"/>
                <a:ea typeface="Microsoft YaHei"/>
              </a:rPr>
              <a:t>现场搭建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95350" y="3143250"/>
            <a:ext cx="5133975" cy="2028825"/>
          </a:xfrm>
          <a:prstGeom prst="roundRect">
            <a:avLst>
              <a:gd name="adj" fmla="val 6573"/>
            </a:avLst>
          </a:prstGeom>
          <a:solidFill>
            <a:srgbClr val="101A2E">
              <a:alpha val="90000"/>
            </a:srgbClr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895350" y="3143250"/>
            <a:ext cx="5133975" cy="2028825"/>
          </a:xfrm>
          <a:custGeom>
            <a:pathLst>
              <a:path w="539" h="213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203"/>
                </a:lnTo>
                <a:cubicBezTo>
                  <a:pt x="4" y="207"/>
                  <a:pt x="7" y="211"/>
                  <a:pt x="11" y="213"/>
                </a:cubicBezTo>
                <a:cubicBezTo>
                  <a:pt x="5" y="211"/>
                  <a:pt x="0" y="206"/>
                  <a:pt x="0" y="199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5B84FA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81100" y="352425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5B84FA"/>
                </a:solidFill>
                <a:latin typeface="Microsoft YaHei"/>
                <a:ea typeface="Microsoft YaHei"/>
              </a:rPr>
              <a:t>演示</a:t>
            </a:r>
            <a:r>
              <a:rPr lang="en-US" sz="1125" spc="150">
                <a:solidFill>
                  <a:srgbClr val="5B84FA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81100" y="3790950"/>
            <a:ext cx="4524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SAINT </a:t>
            </a:r>
            <a:r>
              <a:rPr lang="zh-CN" sz="1800" b="1">
                <a:solidFill>
                  <a:srgbClr val="F8FAFC"/>
                </a:solidFill>
                <a:latin typeface="Microsoft YaHei"/>
                <a:ea typeface="Microsoft YaHei"/>
              </a:rPr>
              <a:t>助教团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81100" y="4200525"/>
            <a:ext cx="4524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专家中心一句话转化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成员阵容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现场提问看多角色协作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注册记录时间戳可验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238875" y="3143250"/>
            <a:ext cx="5133975" cy="2028825"/>
          </a:xfrm>
          <a:prstGeom prst="roundRect">
            <a:avLst>
              <a:gd name="adj" fmla="val 6573"/>
            </a:avLst>
          </a:prstGeom>
          <a:solidFill>
            <a:srgbClr val="101A2E">
              <a:alpha val="90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238875" y="3143250"/>
            <a:ext cx="5133975" cy="2028825"/>
          </a:xfrm>
          <a:custGeom>
            <a:pathLst>
              <a:path w="539" h="213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203"/>
                </a:lnTo>
                <a:cubicBezTo>
                  <a:pt x="4" y="207"/>
                  <a:pt x="7" y="211"/>
                  <a:pt x="11" y="213"/>
                </a:cubicBezTo>
                <a:cubicBezTo>
                  <a:pt x="5" y="211"/>
                  <a:pt x="0" y="206"/>
                  <a:pt x="0" y="199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524625" y="352425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59E0B"/>
                </a:solidFill>
                <a:latin typeface="Microsoft YaHei"/>
                <a:ea typeface="Microsoft YaHei"/>
              </a:rPr>
              <a:t>演示</a:t>
            </a:r>
            <a:r>
              <a:rPr lang="en-US" sz="1125" spc="150">
                <a:solidFill>
                  <a:srgbClr val="F59E0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524625" y="3790950"/>
            <a:ext cx="4524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Microsoft YaHei"/>
                <a:ea typeface="Microsoft YaHei"/>
              </a:rPr>
              <a:t>工作台开发团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524625" y="4200525"/>
            <a:ext cx="45243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现场让它指导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从零搭建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" →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四阶段串行调度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系统会自我复制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57250" y="5810250"/>
            <a:ext cx="10477500" cy="476250"/>
          </a:xfrm>
          <a:prstGeom prst="roundRect">
            <a:avLst>
              <a:gd name="adj" fmla="val 24000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334155"/>
            </a:solidFill>
            <a:prstDash val="dash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085850" y="5962650"/>
            <a:ext cx="10020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兜底预案：若现场网络受限，改由终端展示专家包定义文件与注册日志</a:t>
            </a:r>
            <a:r>
              <a:rPr lang="en-US" sz="1088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证据同效，过程更硬核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71500" y="64865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（此页停留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分钟，切换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现场操作）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2" name="" descr="&lt;Slide style={{ width: 1280, height: 720, background: '#0B1220', flexDirection: 'column', padding: '28px 60px 0' }}&gt;&#13;&#10;  &lt;Text style={{ fontSize: 34, fontWeight: 'bold', color: '#F8FAFC' }}&gt;前后对比：从数据搬运工，回到教师本身&lt;/Text&gt;&#13;&#10;&#13;&#10;  &lt;Box style={{ marginTop: 30 }}&gt;&#13;&#10;    &lt;Box style={{ flexDirection: 'row', background: 'rgba(91,132,250,0.12)', borderRadius: '10px 10px 0 0', padding: '15px 24px' }}&gt;&#13;&#10;      &lt;Text style={{ fontSize: 16, fontWeight: 'bold', color: '#93C5FD', width: 200 }}&gt;维度&lt;/Text&gt;&#13;&#10;      &lt;Text style={{ fontSize: 16, fontWeight: 'bold', color: '#94A3B8', width: 420 }}&gt;搭建前&lt;/Text&gt;&#13;&#10;      &lt;Text style={{ fontSize: 16, fontWeight: 'bold', color: '#FBBF24' }}&gt;现在（WorkBuddy 驱动）&lt;/Text&gt;&#13;&#10;    &lt;/Box&gt;&#13;&#10;    {[&#13;&#10;      { k: '学员动态', a: '发现掉队平均晚一周', b: '每日自动同步，开口即问' },&#13;&#10;      { k: '备课依据', a: '凭印象判断', b: '愿望聚类 + 纪要检索，数据说话' },&#13;&#10;      { k: '满意度感知', a: '结营才从流失率倒推', b: '实时 4.5 分 · NPS 100' },&#13;&#10;      { k: '课堂知识', a: '纪要散落各处无人回看', b: '知识库全文检索，一搜即得' },&#13;&#10;      { k: '我的角色', a: '数据搬运工', b: '只做判断和讲课' },&#13;&#10;    ].map((r) =&gt; (&#13;&#10;      &lt;Box key={r.k} style={{ flexDirection: 'row', padding: '17px 24px', borderBottom: '1px solid #1E3A5F', background: 'rgba(16,26,46,0.6)' }}&gt;&#13;&#10;        &lt;Text style={{ fontSize: 15.5, fontWeight: 'bold', color: '#F8FAFC', width: 200 }}&gt;{r.k}&lt;/Text&gt;&#13;&#10;        &lt;Text style={{ fontSize: 15, color: '#94A3B8', width: 420 }}&gt;{r.a}&lt;/Text&gt;&#13;&#10;        &lt;Text style={{ fontSize: 15, color: '#FBBF24' }}&gt;{r.b}&lt;/Text&gt;&#13;&#10;      &lt;/Box&gt;&#13;&#10;    ))}&#13;&#10;  &lt;/Box&gt;&#13;&#10;&#13;&#10;  &lt;Box style={{ marginTop: 30, flexDirection: 'row', alignItems: 'center', gap: 14, background: 'rgba(91,132,250,0.08)', border: '1px solid rgba(91,132,250,0.4)', borderRadius: 12, padding: '22px 26px' }}&gt;&#13;&#10;    &lt;Text style={{ fontSize: 15.5, color: '#7DD3FC', lineHeight: 1.6 }}&gt;&#13;&#10;      这不是演示道具 —— &lt;span style={{ fontWeight: 'bold' }}&gt;明天早上六点，它还会自己再跑一遍&lt;/span&gt;。真实使用，每天都在发生。&#13;&#10;    &lt;/Text&gt;&#13;&#10;  &lt;/Box&gt;&#13;&#10;&#13;&#10;  &lt;Box style={{ marginTop: 16, flexDirection: 'row', gap: 16 }}&gt;&#13;&#10;    {['同步日志可审计', '工作流图可复现', '专家团可现场重建', '问答可当场验'].map((t) =&gt; (&#13;&#10;      &lt;Box key={t} style={{ flex: 1, padding: '13px 10px', borderRadius: 10, background: 'rgba(16,26,46,0.9)', border: '1px solid #1E3A5F', alignItems: 'center' }}&gt;&#13;&#10;        &lt;Text style={{ fontSize: 14, color: '#7DD3FC', textAlign: 'center' }}&gt;✓ {t}&lt;/Text&gt;&#13;&#10;      &lt;/Box&gt;&#13;&#10;    ))}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前后对比：从数据搬运工，回到教师本身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71500" y="942975"/>
            <a:ext cx="11049000" cy="476250"/>
          </a:xfrm>
          <a:custGeom>
            <a:pathLst>
              <a:path w="1160" h="50">
                <a:moveTo>
                  <a:pt x="10" y="0"/>
                </a:moveTo>
                <a:lnTo>
                  <a:pt x="1150" y="0"/>
                </a:lnTo>
                <a:cubicBezTo>
                  <a:pt x="1156" y="0"/>
                  <a:pt x="1160" y="4"/>
                  <a:pt x="1160" y="10"/>
                </a:cubicBezTo>
                <a:lnTo>
                  <a:pt x="1160" y="50"/>
                </a:lnTo>
                <a:lnTo>
                  <a:pt x="1160" y="50"/>
                </a:lnTo>
                <a:lnTo>
                  <a:pt x="0" y="50"/>
                </a:lnTo>
                <a:lnTo>
                  <a:pt x="0" y="50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5B84FA">
              <a:alpha val="12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00100" y="10858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3C5FD"/>
                </a:solidFill>
                <a:latin typeface="Microsoft YaHei"/>
                <a:ea typeface="Microsoft YaHei"/>
              </a:rPr>
              <a:t>维度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705100" y="108585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搭建前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705600" y="1085850"/>
            <a:ext cx="1876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现在（</a:t>
            </a: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驱动）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71500" y="1419225"/>
            <a:ext cx="11049000" cy="514350"/>
          </a:xfrm>
          <a:prstGeom prst="rect">
            <a:avLst/>
          </a:prstGeom>
          <a:solidFill>
            <a:srgbClr val="101A2E">
              <a:alpha val="60000"/>
            </a:srgbClr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571500" y="1419225"/>
            <a:ext cx="11049000" cy="523875"/>
          </a:xfrm>
          <a:custGeom>
            <a:pathLst>
              <a:path w="1160" h="55">
                <a:moveTo>
                  <a:pt x="0" y="54"/>
                </a:moveTo>
                <a:lnTo>
                  <a:pt x="1160" y="54"/>
                </a:lnTo>
                <a:lnTo>
                  <a:pt x="11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1905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8FAFC"/>
                </a:solidFill>
                <a:latin typeface="Microsoft YaHei"/>
                <a:ea typeface="Microsoft YaHei"/>
              </a:rPr>
              <a:t>学员动态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2705100" y="158115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发现掉队平均晚一周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705600" y="1581150"/>
            <a:ext cx="15716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每日自动同步，开口即问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1933575"/>
            <a:ext cx="11049000" cy="514350"/>
          </a:xfrm>
          <a:prstGeom prst="rect">
            <a:avLst/>
          </a:prstGeom>
          <a:solidFill>
            <a:srgbClr val="101A2E">
              <a:alpha val="60000"/>
            </a:srgbClr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571500" y="1933575"/>
            <a:ext cx="11049000" cy="523875"/>
          </a:xfrm>
          <a:custGeom>
            <a:pathLst>
              <a:path w="1160" h="55">
                <a:moveTo>
                  <a:pt x="0" y="54"/>
                </a:moveTo>
                <a:lnTo>
                  <a:pt x="1160" y="54"/>
                </a:lnTo>
                <a:lnTo>
                  <a:pt x="11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2095500"/>
            <a:ext cx="1905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8FAFC"/>
                </a:solidFill>
                <a:latin typeface="Microsoft YaHei"/>
                <a:ea typeface="Microsoft YaHei"/>
              </a:rPr>
              <a:t>备课依据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705100" y="209550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凭印象判断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705600" y="2095500"/>
            <a:ext cx="20574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愿望聚类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纪要检索，数据说话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71500" y="2447925"/>
            <a:ext cx="11049000" cy="514350"/>
          </a:xfrm>
          <a:prstGeom prst="rect">
            <a:avLst/>
          </a:prstGeom>
          <a:solidFill>
            <a:srgbClr val="101A2E">
              <a:alpha val="60000"/>
            </a:srgbClr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571500" y="2447925"/>
            <a:ext cx="11049000" cy="523875"/>
          </a:xfrm>
          <a:custGeom>
            <a:pathLst>
              <a:path w="1160" h="55">
                <a:moveTo>
                  <a:pt x="0" y="54"/>
                </a:moveTo>
                <a:lnTo>
                  <a:pt x="1160" y="54"/>
                </a:lnTo>
                <a:lnTo>
                  <a:pt x="11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1905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8FAFC"/>
                </a:solidFill>
                <a:latin typeface="Microsoft YaHei"/>
                <a:ea typeface="Microsoft YaHei"/>
              </a:rPr>
              <a:t>满意度感知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705100" y="260985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结营才从流失率倒推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705600" y="2609850"/>
            <a:ext cx="14192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实时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 xml:space="preserve"> 4.5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分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 xml:space="preserve"> · NPS 100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2962275"/>
            <a:ext cx="11049000" cy="514350"/>
          </a:xfrm>
          <a:prstGeom prst="rect">
            <a:avLst/>
          </a:prstGeom>
          <a:solidFill>
            <a:srgbClr val="101A2E">
              <a:alpha val="60000"/>
            </a:srgbClr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71500" y="2962275"/>
            <a:ext cx="11049000" cy="523875"/>
          </a:xfrm>
          <a:custGeom>
            <a:pathLst>
              <a:path w="1160" h="55">
                <a:moveTo>
                  <a:pt x="0" y="54"/>
                </a:moveTo>
                <a:lnTo>
                  <a:pt x="1160" y="54"/>
                </a:lnTo>
                <a:lnTo>
                  <a:pt x="11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00100" y="3124200"/>
            <a:ext cx="1905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8FAFC"/>
                </a:solidFill>
                <a:latin typeface="Microsoft YaHei"/>
                <a:ea typeface="Microsoft YaHei"/>
              </a:rPr>
              <a:t>课堂知识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705100" y="312420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纪要散落各处无人回看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705600" y="3124200"/>
            <a:ext cx="1714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知识库全文检索，一搜即得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3476625"/>
            <a:ext cx="11049000" cy="514350"/>
          </a:xfrm>
          <a:prstGeom prst="rect">
            <a:avLst/>
          </a:prstGeom>
          <a:solidFill>
            <a:srgbClr val="101A2E">
              <a:alpha val="60000"/>
            </a:srgbClr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71500" y="3476625"/>
            <a:ext cx="11049000" cy="523875"/>
          </a:xfrm>
          <a:custGeom>
            <a:pathLst>
              <a:path w="1160" h="55">
                <a:moveTo>
                  <a:pt x="0" y="54"/>
                </a:moveTo>
                <a:lnTo>
                  <a:pt x="1160" y="54"/>
                </a:lnTo>
                <a:lnTo>
                  <a:pt x="11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0100" y="3638550"/>
            <a:ext cx="1905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8FAFC"/>
                </a:solidFill>
                <a:latin typeface="Microsoft YaHei"/>
                <a:ea typeface="Microsoft YaHei"/>
              </a:rPr>
              <a:t>我的角色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2705100" y="363855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数据搬运工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705600" y="3638550"/>
            <a:ext cx="10001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只做判断和讲课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4276725"/>
            <a:ext cx="11049000" cy="704850"/>
          </a:xfrm>
          <a:prstGeom prst="roundRect">
            <a:avLst>
              <a:gd name="adj" fmla="val 16216"/>
            </a:avLst>
          </a:prstGeom>
          <a:solidFill>
            <a:srgbClr val="5B84FA">
              <a:alpha val="8000"/>
            </a:srgbClr>
          </a:solidFill>
          <a:ln w="12700">
            <a:solidFill>
              <a:srgbClr val="5B84F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19150" y="4486275"/>
            <a:ext cx="5724525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7DD3FC"/>
                </a:solidFill>
                <a:latin typeface="Microsoft YaHei"/>
                <a:ea typeface="Microsoft YaHei"/>
              </a:rPr>
              <a:t>这不是演示道具</a:t>
            </a:r>
            <a:r>
              <a:rPr lang="en-US" sz="1163">
                <a:solidFill>
                  <a:srgbClr val="7DD3F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63" b="1">
                <a:solidFill>
                  <a:srgbClr val="7DD3FC"/>
                </a:solidFill>
                <a:latin typeface="Microsoft YaHei"/>
                <a:ea typeface="Microsoft YaHei"/>
              </a:rPr>
              <a:t>明天早上六点，它还会自己再跑一遍</a:t>
            </a:r>
            <a:r>
              <a:rPr lang="zh-CN" sz="1163">
                <a:solidFill>
                  <a:srgbClr val="7DD3FC"/>
                </a:solidFill>
                <a:latin typeface="Microsoft YaHei"/>
                <a:ea typeface="Microsoft YaHei"/>
              </a:rPr>
              <a:t>。真实使用，每天都在发生。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71500" y="5133975"/>
            <a:ext cx="2647950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343025" y="5257800"/>
            <a:ext cx="11144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7DD3FC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7DD3FC"/>
                </a:solidFill>
                <a:latin typeface="Microsoft YaHei"/>
                <a:ea typeface="Microsoft YaHei"/>
              </a:rPr>
              <a:t>同步日志可审计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371850" y="5133975"/>
            <a:ext cx="2647950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143375" y="5257800"/>
            <a:ext cx="11144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7DD3FC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7DD3FC"/>
                </a:solidFill>
                <a:latin typeface="Microsoft YaHei"/>
                <a:ea typeface="Microsoft YaHei"/>
              </a:rPr>
              <a:t>工作流图可复现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172200" y="5133975"/>
            <a:ext cx="2647950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77050" y="5257800"/>
            <a:ext cx="12477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7DD3FC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7DD3FC"/>
                </a:solidFill>
                <a:latin typeface="Microsoft YaHei"/>
                <a:ea typeface="Microsoft YaHei"/>
              </a:rPr>
              <a:t>专家团可现场重建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972550" y="5133975"/>
            <a:ext cx="2647950" cy="409575"/>
          </a:xfrm>
          <a:prstGeom prst="roundRect">
            <a:avLst>
              <a:gd name="adj" fmla="val 23256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810750" y="5257800"/>
            <a:ext cx="9810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7DD3FC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1050">
                <a:solidFill>
                  <a:srgbClr val="7DD3FC"/>
                </a:solidFill>
                <a:latin typeface="Microsoft YaHei"/>
                <a:ea typeface="Microsoft YaHei"/>
              </a:rPr>
              <a:t>问答可当场验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style={{ width: 1280, height: 720, background: '#0B1220', flexDirection: 'column', padding: '28px 60px 0' }}&gt;&#13;&#10;  &lt;Text style={{ fontSize: 34, fontWeight: 'bold', color: '#F8FAFC' }}&gt;后续使用：它已经在每天运行&lt;/Text&gt;&#13;&#10;  &lt;Text style={{ fontSize: 15, color: '#64748B', marginTop: 6 }}&gt;不是为比赛做的 —— 是我每天的真实工作方式&lt;/Text&gt;&#13;&#10;&#13;&#10;  &lt;Box style={{ flexDirection: 'row', gap: 22, marginTop: 40 }}&gt;&#13;&#10;    {[&#13;&#10;      { time: '每天 06:00', t: '数据自动进仓', d: '两路同步任务把问卷答卷、会议纪要、文档清单汇入本地库，日志留痕可审计', icon: '⏰', c: '#22D3EE' },&#13;&#10;      { time: '每天全天', t: '随口就问', d: '助教团常驻 WorkBuddy：学情、备课、关怀随口一问，答案来自真实数据', icon: '💬', c: '#5B84FA' },&#13;&#10;      { time: '每周每课', t: '知识自动沉淀', d: '课后纪要自动入库，越用越懂这个班；大屏随时投屏复盘', icon: '📚', c: '#FBBF24' },&#13;&#10;    ].map((c) =&gt; (&#13;&#10;      &lt;Box key={c.t} style={{ flex: 1, background: 'rgba(16,26,46,0.9)', border: '1px solid #1E3A5F', borderRadius: 16, padding: '36px 30px' }}&gt;&#13;&#10;        &lt;Text style={{ fontSize: 40 }}&gt;{c.icon}&lt;/Text&gt;&#13;&#10;        &lt;Text style={{ fontSize: 17, color: c.c, fontWeight: 'bold', marginTop: 14 }}&gt;{c.time}&lt;/Text&gt;&#13;&#10;        &lt;Text style={{ fontSize: 21, fontWeight: 'bold', color: '#F8FAFC', marginTop: 10 }}&gt;{c.t}&lt;/Text&gt;&#13;&#10;        &lt;Text style={{ fontSize: 14.5, color: '#94A3B8', marginTop: 12, lineHeight: 1.6 }}&gt;{c.d}&lt;/Text&gt;&#13;&#10;      &lt;/Box&gt;&#13;&#10;    ))}&#13;&#10;  &lt;/Box&gt;&#13;&#10;&#13;&#10;  &lt;Box style={{ marginTop: 38, padding: '24px 28px', borderRadius: 12, background: 'rgba(34,211,238,0.06)', border: '1px solid rgba(34,211,238,0.3)' }}&gt;&#13;&#10;    &lt;Text style={{ fontSize: 16, color: '#7DD3FC', lineHeight: 1.7 }}&gt;&#13;&#10;      这套系统已整理为&lt;span style={{ fontWeight: 'bold' }}&gt;开源仓库&lt;/span&gt;：完整搭建引导 Skill + 双专家团模板 + 全部工作流，任何人打开 WorkBuddy 说一句话，明天就能拥有自己的版本&#13;&#10;    &lt;/Text&gt;&#13;&#10;    &lt;Text style={{ fontSize: 14, color: '#64748B', marginTop: 10 }}&gt;—— 开源相关细节可在 Q&amp;A 环节展开，欢迎交流复刻经验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后续使用：它已经在每天运行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7143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不是为比赛做的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是我每天的真实工作方式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71500" y="1266825"/>
            <a:ext cx="3543300" cy="2466975"/>
          </a:xfrm>
          <a:prstGeom prst="roundRect">
            <a:avLst>
              <a:gd name="adj" fmla="val 617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⏰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57250" y="220027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每天</a:t>
            </a:r>
            <a:r>
              <a:rPr lang="en-US" sz="127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 06:00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57250" y="249555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数据自动进仓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57250" y="28575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两路同步任务把问卷答卷、会议纪要、文档清单汇入本地库，日志留痕可审计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324350" y="1266825"/>
            <a:ext cx="3543300" cy="2466975"/>
          </a:xfrm>
          <a:prstGeom prst="roundRect">
            <a:avLst>
              <a:gd name="adj" fmla="val 617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610100" y="1609725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💬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610100" y="220027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B84FA"/>
                </a:solidFill>
                <a:latin typeface="Microsoft YaHei"/>
                <a:ea typeface="Microsoft YaHei"/>
              </a:rPr>
              <a:t>每天全天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610100" y="249555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随口就问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610100" y="28575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助教团常驻</a:t>
            </a:r>
            <a:r>
              <a:rPr lang="en-US" sz="1088">
                <a:solidFill>
                  <a:srgbClr val="94A3B8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：学情、备课、关怀随口一问，答案来自真实数据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077200" y="1266825"/>
            <a:ext cx="3543300" cy="2466975"/>
          </a:xfrm>
          <a:prstGeom prst="roundRect">
            <a:avLst>
              <a:gd name="adj" fmla="val 6178"/>
            </a:avLst>
          </a:prstGeom>
          <a:solidFill>
            <a:srgbClr val="101A2E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62950" y="1609725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📚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62950" y="220027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每周每课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62950" y="249555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知识自动沉淀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62950" y="28575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Microsoft YaHei"/>
                <a:ea typeface="Microsoft YaHei"/>
              </a:rPr>
              <a:t>课后纪要自动入库，越用越懂这个班；大屏随时投屏复盘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71500" y="4095750"/>
            <a:ext cx="11049000" cy="1028700"/>
          </a:xfrm>
          <a:prstGeom prst="roundRect">
            <a:avLst>
              <a:gd name="adj" fmla="val 11111"/>
            </a:avLst>
          </a:prstGeom>
          <a:solidFill>
            <a:srgbClr val="22D3EE">
              <a:alpha val="6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43243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这套系统已整理为</a:t>
            </a:r>
            <a:r>
              <a:rPr lang="zh-CN" sz="1200" b="1">
                <a:solidFill>
                  <a:srgbClr val="7DD3FC"/>
                </a:solidFill>
                <a:latin typeface="Microsoft YaHei"/>
                <a:ea typeface="Microsoft YaHei"/>
              </a:rPr>
              <a:t>开源仓库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：完整搭建引导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Skill +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双专家团模板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全部工作流，任何人打开</a:t>
            </a:r>
            <a:r>
              <a:rPr lang="en-US" sz="1200">
                <a:solidFill>
                  <a:srgbClr val="7DD3FC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200">
                <a:solidFill>
                  <a:srgbClr val="7DD3FC"/>
                </a:solidFill>
                <a:latin typeface="Microsoft YaHei"/>
                <a:ea typeface="Microsoft YaHei"/>
              </a:rPr>
              <a:t>说一句话，明天就能拥有自己的版本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开源相关细节可在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Q&amp;A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环节展开，欢迎交流复刻经验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6" name="" descr="&lt;Slide style={{ width: 1280, height: 720, background: '#0B1220', position: 'relative', padding: 0, overflow: 'hidden' }}&gt;&#10;  &lt;Box style={{ position: 'absolute', top: -200, left: 200, width: 880, height: 880, borderRadius: 9999, background: 'radial-gradient(circle, rgba(91,132,250,0.18) 0%, rgba(11,18,32,0) 65%)' }} /&gt;&#10;  &lt;Box style={{ position: 'absolute', top: 150, left: 0, width: 1280, alignItems: 'center' }}&gt;&#10;    &lt;Image src=&quot;assets/logo.jpg&quot; style={{ width: 96, height: 96, borderRadius: 18, border: '2px solid #1E3A5F' }} /&gt;&#10;    &lt;Text style={{ fontSize: 50, fontWeight: 'bold', marginTop: 44, textAlign: 'center', lineHeight: 1.4, color: '#F8FAFC' }}&gt;&#10;      每个教师，都值得拥有&#10;      &lt;br /&gt;&#10;      一支&lt;span style={{ backgroundImage: 'linear-gradient(135deg, #5B84FA 0%, #22D3EE 100%)', backgroundClip: 'text', color: 'transparent' }}&gt; AI 教学团队&lt;/span&gt;&#10;    &lt;/Text&gt;&#10;    &lt;Text style={{ fontSize: 18, color: '#64748B', marginTop: 40, letterSpacing: 3 }}&gt;我做到了 · 你也一样 · 谢谢大家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1905000" y="-1905000"/>
            <a:ext cx="8382000" cy="8382000"/>
          </a:xfrm>
          <a:custGeom>
            <a:pathLst>
              <a:path w="880" h="880">
                <a:moveTo>
                  <a:pt x="811" y="203"/>
                </a:moveTo>
                <a:lnTo>
                  <a:pt x="816" y="212"/>
                </a:lnTo>
                <a:lnTo>
                  <a:pt x="822" y="221"/>
                </a:lnTo>
                <a:lnTo>
                  <a:pt x="827" y="230"/>
                </a:lnTo>
                <a:lnTo>
                  <a:pt x="832" y="240"/>
                </a:lnTo>
                <a:lnTo>
                  <a:pt x="837" y="249"/>
                </a:lnTo>
                <a:lnTo>
                  <a:pt x="841" y="259"/>
                </a:lnTo>
                <a:lnTo>
                  <a:pt x="845" y="269"/>
                </a:lnTo>
                <a:lnTo>
                  <a:pt x="849" y="279"/>
                </a:lnTo>
                <a:lnTo>
                  <a:pt x="853" y="289"/>
                </a:lnTo>
                <a:lnTo>
                  <a:pt x="857" y="299"/>
                </a:lnTo>
                <a:lnTo>
                  <a:pt x="860" y="309"/>
                </a:lnTo>
                <a:lnTo>
                  <a:pt x="863" y="320"/>
                </a:lnTo>
                <a:lnTo>
                  <a:pt x="866" y="330"/>
                </a:lnTo>
                <a:lnTo>
                  <a:pt x="869" y="341"/>
                </a:lnTo>
                <a:lnTo>
                  <a:pt x="871" y="351"/>
                </a:lnTo>
                <a:lnTo>
                  <a:pt x="873" y="362"/>
                </a:lnTo>
                <a:lnTo>
                  <a:pt x="875" y="373"/>
                </a:lnTo>
                <a:lnTo>
                  <a:pt x="876" y="384"/>
                </a:lnTo>
                <a:lnTo>
                  <a:pt x="878" y="395"/>
                </a:lnTo>
                <a:lnTo>
                  <a:pt x="879" y="406"/>
                </a:lnTo>
                <a:lnTo>
                  <a:pt x="879" y="417"/>
                </a:lnTo>
                <a:lnTo>
                  <a:pt x="880" y="429"/>
                </a:lnTo>
                <a:lnTo>
                  <a:pt x="880" y="440"/>
                </a:lnTo>
                <a:lnTo>
                  <a:pt x="880" y="451"/>
                </a:lnTo>
                <a:lnTo>
                  <a:pt x="879" y="463"/>
                </a:lnTo>
                <a:lnTo>
                  <a:pt x="879" y="474"/>
                </a:lnTo>
                <a:lnTo>
                  <a:pt x="878" y="485"/>
                </a:lnTo>
                <a:lnTo>
                  <a:pt x="876" y="496"/>
                </a:lnTo>
                <a:lnTo>
                  <a:pt x="875" y="507"/>
                </a:lnTo>
                <a:lnTo>
                  <a:pt x="873" y="518"/>
                </a:lnTo>
                <a:lnTo>
                  <a:pt x="871" y="529"/>
                </a:lnTo>
                <a:lnTo>
                  <a:pt x="869" y="539"/>
                </a:lnTo>
                <a:lnTo>
                  <a:pt x="866" y="550"/>
                </a:lnTo>
                <a:lnTo>
                  <a:pt x="863" y="560"/>
                </a:lnTo>
                <a:lnTo>
                  <a:pt x="860" y="571"/>
                </a:lnTo>
                <a:lnTo>
                  <a:pt x="857" y="581"/>
                </a:lnTo>
                <a:lnTo>
                  <a:pt x="853" y="591"/>
                </a:lnTo>
                <a:lnTo>
                  <a:pt x="849" y="601"/>
                </a:lnTo>
                <a:lnTo>
                  <a:pt x="845" y="611"/>
                </a:lnTo>
                <a:lnTo>
                  <a:pt x="841" y="621"/>
                </a:lnTo>
                <a:lnTo>
                  <a:pt x="837" y="631"/>
                </a:lnTo>
                <a:lnTo>
                  <a:pt x="832" y="640"/>
                </a:lnTo>
                <a:lnTo>
                  <a:pt x="827" y="650"/>
                </a:lnTo>
                <a:lnTo>
                  <a:pt x="822" y="659"/>
                </a:lnTo>
                <a:lnTo>
                  <a:pt x="816" y="668"/>
                </a:lnTo>
                <a:lnTo>
                  <a:pt x="811" y="677"/>
                </a:lnTo>
                <a:lnTo>
                  <a:pt x="805" y="686"/>
                </a:lnTo>
                <a:lnTo>
                  <a:pt x="799" y="695"/>
                </a:lnTo>
                <a:lnTo>
                  <a:pt x="793" y="703"/>
                </a:lnTo>
                <a:lnTo>
                  <a:pt x="786" y="712"/>
                </a:lnTo>
                <a:lnTo>
                  <a:pt x="780" y="720"/>
                </a:lnTo>
                <a:lnTo>
                  <a:pt x="773" y="728"/>
                </a:lnTo>
                <a:lnTo>
                  <a:pt x="766" y="736"/>
                </a:lnTo>
                <a:lnTo>
                  <a:pt x="759" y="744"/>
                </a:lnTo>
                <a:lnTo>
                  <a:pt x="751" y="751"/>
                </a:lnTo>
                <a:lnTo>
                  <a:pt x="744" y="759"/>
                </a:lnTo>
                <a:lnTo>
                  <a:pt x="736" y="766"/>
                </a:lnTo>
                <a:lnTo>
                  <a:pt x="728" y="773"/>
                </a:lnTo>
                <a:lnTo>
                  <a:pt x="720" y="780"/>
                </a:lnTo>
                <a:lnTo>
                  <a:pt x="712" y="786"/>
                </a:lnTo>
                <a:lnTo>
                  <a:pt x="703" y="793"/>
                </a:lnTo>
                <a:lnTo>
                  <a:pt x="695" y="799"/>
                </a:lnTo>
                <a:lnTo>
                  <a:pt x="686" y="805"/>
                </a:lnTo>
                <a:lnTo>
                  <a:pt x="677" y="811"/>
                </a:lnTo>
                <a:lnTo>
                  <a:pt x="668" y="816"/>
                </a:lnTo>
                <a:lnTo>
                  <a:pt x="659" y="822"/>
                </a:lnTo>
                <a:lnTo>
                  <a:pt x="650" y="827"/>
                </a:lnTo>
                <a:lnTo>
                  <a:pt x="640" y="832"/>
                </a:lnTo>
                <a:lnTo>
                  <a:pt x="631" y="837"/>
                </a:lnTo>
                <a:lnTo>
                  <a:pt x="621" y="841"/>
                </a:lnTo>
                <a:lnTo>
                  <a:pt x="611" y="845"/>
                </a:lnTo>
                <a:lnTo>
                  <a:pt x="601" y="849"/>
                </a:lnTo>
                <a:lnTo>
                  <a:pt x="591" y="853"/>
                </a:lnTo>
                <a:lnTo>
                  <a:pt x="581" y="857"/>
                </a:lnTo>
                <a:lnTo>
                  <a:pt x="571" y="860"/>
                </a:lnTo>
                <a:lnTo>
                  <a:pt x="560" y="863"/>
                </a:lnTo>
                <a:lnTo>
                  <a:pt x="550" y="866"/>
                </a:lnTo>
                <a:lnTo>
                  <a:pt x="539" y="869"/>
                </a:lnTo>
                <a:lnTo>
                  <a:pt x="529" y="871"/>
                </a:lnTo>
                <a:lnTo>
                  <a:pt x="518" y="873"/>
                </a:lnTo>
                <a:lnTo>
                  <a:pt x="507" y="875"/>
                </a:lnTo>
                <a:lnTo>
                  <a:pt x="496" y="876"/>
                </a:lnTo>
                <a:lnTo>
                  <a:pt x="485" y="878"/>
                </a:lnTo>
                <a:lnTo>
                  <a:pt x="474" y="879"/>
                </a:lnTo>
                <a:lnTo>
                  <a:pt x="463" y="879"/>
                </a:lnTo>
                <a:lnTo>
                  <a:pt x="451" y="880"/>
                </a:lnTo>
                <a:lnTo>
                  <a:pt x="440" y="880"/>
                </a:lnTo>
                <a:lnTo>
                  <a:pt x="429" y="880"/>
                </a:lnTo>
                <a:lnTo>
                  <a:pt x="417" y="879"/>
                </a:lnTo>
                <a:lnTo>
                  <a:pt x="406" y="879"/>
                </a:lnTo>
                <a:lnTo>
                  <a:pt x="395" y="878"/>
                </a:lnTo>
                <a:lnTo>
                  <a:pt x="384" y="876"/>
                </a:lnTo>
                <a:lnTo>
                  <a:pt x="373" y="875"/>
                </a:lnTo>
                <a:lnTo>
                  <a:pt x="362" y="873"/>
                </a:lnTo>
                <a:lnTo>
                  <a:pt x="351" y="871"/>
                </a:lnTo>
                <a:lnTo>
                  <a:pt x="341" y="869"/>
                </a:lnTo>
                <a:lnTo>
                  <a:pt x="330" y="866"/>
                </a:lnTo>
                <a:lnTo>
                  <a:pt x="320" y="863"/>
                </a:lnTo>
                <a:lnTo>
                  <a:pt x="309" y="860"/>
                </a:lnTo>
                <a:lnTo>
                  <a:pt x="299" y="857"/>
                </a:lnTo>
                <a:lnTo>
                  <a:pt x="289" y="853"/>
                </a:lnTo>
                <a:lnTo>
                  <a:pt x="279" y="849"/>
                </a:lnTo>
                <a:lnTo>
                  <a:pt x="269" y="845"/>
                </a:lnTo>
                <a:lnTo>
                  <a:pt x="259" y="841"/>
                </a:lnTo>
                <a:lnTo>
                  <a:pt x="249" y="837"/>
                </a:lnTo>
                <a:lnTo>
                  <a:pt x="240" y="832"/>
                </a:lnTo>
                <a:lnTo>
                  <a:pt x="230" y="827"/>
                </a:lnTo>
                <a:lnTo>
                  <a:pt x="221" y="822"/>
                </a:lnTo>
                <a:lnTo>
                  <a:pt x="212" y="816"/>
                </a:lnTo>
                <a:lnTo>
                  <a:pt x="203" y="811"/>
                </a:lnTo>
                <a:lnTo>
                  <a:pt x="194" y="805"/>
                </a:lnTo>
                <a:lnTo>
                  <a:pt x="185" y="799"/>
                </a:lnTo>
                <a:lnTo>
                  <a:pt x="177" y="793"/>
                </a:lnTo>
                <a:lnTo>
                  <a:pt x="168" y="786"/>
                </a:lnTo>
                <a:lnTo>
                  <a:pt x="160" y="780"/>
                </a:lnTo>
                <a:lnTo>
                  <a:pt x="152" y="773"/>
                </a:lnTo>
                <a:lnTo>
                  <a:pt x="144" y="766"/>
                </a:lnTo>
                <a:lnTo>
                  <a:pt x="136" y="759"/>
                </a:lnTo>
                <a:lnTo>
                  <a:pt x="129" y="751"/>
                </a:lnTo>
                <a:lnTo>
                  <a:pt x="121" y="744"/>
                </a:lnTo>
                <a:lnTo>
                  <a:pt x="114" y="736"/>
                </a:lnTo>
                <a:lnTo>
                  <a:pt x="107" y="728"/>
                </a:lnTo>
                <a:lnTo>
                  <a:pt x="100" y="720"/>
                </a:lnTo>
                <a:lnTo>
                  <a:pt x="94" y="712"/>
                </a:lnTo>
                <a:lnTo>
                  <a:pt x="87" y="703"/>
                </a:lnTo>
                <a:lnTo>
                  <a:pt x="81" y="695"/>
                </a:lnTo>
                <a:lnTo>
                  <a:pt x="75" y="686"/>
                </a:lnTo>
                <a:lnTo>
                  <a:pt x="69" y="677"/>
                </a:lnTo>
                <a:lnTo>
                  <a:pt x="64" y="668"/>
                </a:lnTo>
                <a:lnTo>
                  <a:pt x="58" y="659"/>
                </a:lnTo>
                <a:lnTo>
                  <a:pt x="53" y="650"/>
                </a:lnTo>
                <a:lnTo>
                  <a:pt x="48" y="640"/>
                </a:lnTo>
                <a:lnTo>
                  <a:pt x="43" y="631"/>
                </a:lnTo>
                <a:lnTo>
                  <a:pt x="39" y="621"/>
                </a:lnTo>
                <a:lnTo>
                  <a:pt x="35" y="611"/>
                </a:lnTo>
                <a:lnTo>
                  <a:pt x="31" y="601"/>
                </a:lnTo>
                <a:lnTo>
                  <a:pt x="27" y="591"/>
                </a:lnTo>
                <a:lnTo>
                  <a:pt x="23" y="581"/>
                </a:lnTo>
                <a:lnTo>
                  <a:pt x="20" y="571"/>
                </a:lnTo>
                <a:lnTo>
                  <a:pt x="17" y="560"/>
                </a:lnTo>
                <a:lnTo>
                  <a:pt x="14" y="550"/>
                </a:lnTo>
                <a:lnTo>
                  <a:pt x="11" y="539"/>
                </a:lnTo>
                <a:lnTo>
                  <a:pt x="9" y="529"/>
                </a:lnTo>
                <a:lnTo>
                  <a:pt x="7" y="518"/>
                </a:lnTo>
                <a:lnTo>
                  <a:pt x="5" y="507"/>
                </a:lnTo>
                <a:lnTo>
                  <a:pt x="4" y="496"/>
                </a:lnTo>
                <a:lnTo>
                  <a:pt x="2" y="485"/>
                </a:lnTo>
                <a:lnTo>
                  <a:pt x="1" y="474"/>
                </a:lnTo>
                <a:lnTo>
                  <a:pt x="1" y="463"/>
                </a:lnTo>
                <a:lnTo>
                  <a:pt x="0" y="451"/>
                </a:lnTo>
                <a:lnTo>
                  <a:pt x="0" y="440"/>
                </a:lnTo>
                <a:lnTo>
                  <a:pt x="0" y="429"/>
                </a:lnTo>
                <a:lnTo>
                  <a:pt x="1" y="417"/>
                </a:lnTo>
                <a:lnTo>
                  <a:pt x="1" y="406"/>
                </a:lnTo>
                <a:lnTo>
                  <a:pt x="2" y="395"/>
                </a:lnTo>
                <a:lnTo>
                  <a:pt x="4" y="384"/>
                </a:lnTo>
                <a:lnTo>
                  <a:pt x="5" y="373"/>
                </a:lnTo>
                <a:lnTo>
                  <a:pt x="7" y="362"/>
                </a:lnTo>
                <a:lnTo>
                  <a:pt x="9" y="351"/>
                </a:lnTo>
                <a:lnTo>
                  <a:pt x="11" y="341"/>
                </a:lnTo>
                <a:lnTo>
                  <a:pt x="14" y="330"/>
                </a:lnTo>
                <a:lnTo>
                  <a:pt x="17" y="320"/>
                </a:lnTo>
                <a:lnTo>
                  <a:pt x="20" y="309"/>
                </a:lnTo>
                <a:lnTo>
                  <a:pt x="23" y="299"/>
                </a:lnTo>
                <a:lnTo>
                  <a:pt x="27" y="289"/>
                </a:lnTo>
                <a:lnTo>
                  <a:pt x="31" y="279"/>
                </a:lnTo>
                <a:lnTo>
                  <a:pt x="35" y="269"/>
                </a:lnTo>
                <a:lnTo>
                  <a:pt x="39" y="259"/>
                </a:lnTo>
                <a:lnTo>
                  <a:pt x="43" y="249"/>
                </a:lnTo>
                <a:lnTo>
                  <a:pt x="48" y="240"/>
                </a:lnTo>
                <a:lnTo>
                  <a:pt x="53" y="230"/>
                </a:lnTo>
                <a:lnTo>
                  <a:pt x="58" y="221"/>
                </a:lnTo>
                <a:lnTo>
                  <a:pt x="64" y="212"/>
                </a:lnTo>
                <a:lnTo>
                  <a:pt x="69" y="203"/>
                </a:lnTo>
                <a:lnTo>
                  <a:pt x="71" y="200"/>
                </a:lnTo>
                <a:lnTo>
                  <a:pt x="809" y="200"/>
                </a:lnTo>
                <a:close/>
              </a:path>
            </a:pathLst>
          </a:custGeom>
          <a:gradFill>
            <a:gsLst>
              <a:gs pos="0">
                <a:srgbClr val="5B84FA">
                  <a:alpha val="18000"/>
                </a:srgbClr>
              </a:gs>
              <a:gs pos="65000">
                <a:srgbClr val="0B12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638800" y="1428750"/>
            <a:ext cx="914400" cy="914400"/>
          </a:xfrm>
          <a:prstGeom prst="rect">
            <a:avLst/>
          </a:prstGeom>
          <a:ln w="25400">
            <a:solidFill>
              <a:srgbClr val="1E3A5F"/>
            </a:solidFill>
            <a:prstDash val="solid"/>
          </a:ln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638800" y="1428750"/>
            <a:ext cx="914400" cy="914400"/>
          </a:xfrm>
          <a:prstGeom prst="roundRect">
            <a:avLst>
              <a:gd name="adj" fmla="val 18750"/>
            </a:avLst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714750" y="2762250"/>
            <a:ext cx="4762500" cy="16002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750" b="1">
                <a:solidFill>
                  <a:srgbClr val="F8FAFC"/>
                </a:solidFill>
                <a:latin typeface="Microsoft YaHei"/>
                <a:ea typeface="Microsoft YaHei"/>
              </a:rPr>
              <a:t>每个教师，都值得拥有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750" b="1">
                <a:solidFill>
                  <a:srgbClr val="F8FAFC"/>
                </a:solidFill>
                <a:latin typeface="Microsoft YaHei"/>
                <a:ea typeface="Microsoft YaHei"/>
              </a:rPr>
              <a:t>一支</a:t>
            </a:r>
            <a:r>
              <a:rPr lang="en-US" sz="37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 xml:space="preserve"> AI </a:t>
            </a:r>
            <a:r>
              <a:rPr lang="zh-CN" sz="3750" b="1">
                <a:gradFill>
                  <a:gsLst>
                    <a:gs pos="0">
                      <a:srgbClr val="5B84FA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教学团队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667250" y="47434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64748B"/>
                </a:solidFill>
                <a:latin typeface="Microsoft YaHei"/>
                <a:ea typeface="Microsoft YaHei"/>
              </a:rPr>
              <a:t>我做到了</a:t>
            </a:r>
            <a:r>
              <a:rPr lang="en-US" sz="1350" spc="2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225">
                <a:solidFill>
                  <a:srgbClr val="64748B"/>
                </a:solidFill>
                <a:latin typeface="Microsoft YaHei"/>
                <a:ea typeface="Microsoft YaHei"/>
              </a:rPr>
              <a:t>你也一样</a:t>
            </a:r>
            <a:r>
              <a:rPr lang="en-US" sz="1350" spc="2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225">
                <a:solidFill>
                  <a:srgbClr val="64748B"/>
                </a:solidFill>
                <a:latin typeface="Microsoft YaHei"/>
                <a:ea typeface="Microsoft YaHei"/>
              </a:rPr>
              <a:t>谢谢大家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2026-10-21T21:43:54Z</dcterms:created>
  <dcterms:modified xsi:type="dcterms:W3CDTF">2026-10-21T21:43:54Z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{"AIGC":{"Label":"1","ContentProducer":"00119111010856365494821B355","ProduceID":"01a15e91d14675ef9ebc5ff809a0441a","ReservedCode1":"","ContentPropagator":"00119111010856365494821B355","PropagateID":"01a15e91d14675ef9ebc5ff809a0441a","ReservedCode2":""}}</vt:lpwstr>
  </property>
</Properties>
</file>